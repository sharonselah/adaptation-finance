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1600200"/>
            <a:ext cx="9692640" cy="365760"/>
          </a:xfrm>
          <a:prstGeom prst="rect">
            <a:avLst/>
          </a:prstGeom>
          <a:noFill/>
        </p:spPr>
        <p:txBody>
          <a:bodyPr wrap="square" anchor="t" lIns="0" rIns="0" tIns="0" bIns="0">
            <a:spAutoFit/>
          </a:bodyPr>
          <a:lstStyle/>
          <a:p>
            <a:pPr algn="l">
              <a:lnSpc>
                <a:spcPct val="125000"/>
              </a:lnSpc>
              <a:spcAft>
                <a:spcPts val="0"/>
              </a:spcAft>
            </a:pPr>
            <a:r>
              <a:rPr sz="1050" b="1" i="0">
                <a:solidFill>
                  <a:srgbClr val="98C11F"/>
                </a:solidFill>
                <a:latin typeface="Montserrat"/>
              </a:rPr>
              <a:t>FSD AFRICA  ·  BRP-01</a:t>
            </a:r>
          </a:p>
        </p:txBody>
      </p:sp>
      <p:sp>
        <p:nvSpPr>
          <p:cNvPr id="5" name="TextBox 4"/>
          <p:cNvSpPr txBox="1"/>
          <p:nvPr/>
        </p:nvSpPr>
        <p:spPr>
          <a:xfrm>
            <a:off x="1024128" y="2057400"/>
            <a:ext cx="10058400" cy="2011680"/>
          </a:xfrm>
          <a:prstGeom prst="rect">
            <a:avLst/>
          </a:prstGeom>
          <a:noFill/>
        </p:spPr>
        <p:txBody>
          <a:bodyPr wrap="square" anchor="t" lIns="0" rIns="0" tIns="0" bIns="0">
            <a:spAutoFit/>
          </a:bodyPr>
          <a:lstStyle/>
          <a:p>
            <a:pPr algn="l">
              <a:lnSpc>
                <a:spcPct val="102000"/>
              </a:lnSpc>
              <a:spcAft>
                <a:spcPts val="0"/>
              </a:spcAft>
            </a:pPr>
            <a:r>
              <a:rPr sz="4500" b="1" i="0">
                <a:solidFill>
                  <a:srgbClr val="FFFFFF"/>
                </a:solidFill>
                <a:latin typeface="Montserrat"/>
              </a:rPr>
              <a:t>Adaptation finance flows to Africa</a:t>
            </a:r>
          </a:p>
        </p:txBody>
      </p:sp>
      <p:sp>
        <p:nvSpPr>
          <p:cNvPr id="6" name="TextBox 5"/>
          <p:cNvSpPr txBox="1"/>
          <p:nvPr/>
        </p:nvSpPr>
        <p:spPr>
          <a:xfrm>
            <a:off x="1024128" y="3794760"/>
            <a:ext cx="8778240" cy="914400"/>
          </a:xfrm>
          <a:prstGeom prst="rect">
            <a:avLst/>
          </a:prstGeom>
          <a:noFill/>
        </p:spPr>
        <p:txBody>
          <a:bodyPr wrap="square" anchor="t" lIns="0" rIns="0" tIns="0" bIns="0">
            <a:spAutoFit/>
          </a:bodyPr>
          <a:lstStyle/>
          <a:p>
            <a:pPr algn="l">
              <a:lnSpc>
                <a:spcPct val="135000"/>
              </a:lnSpc>
              <a:spcAft>
                <a:spcPts val="0"/>
              </a:spcAft>
            </a:pPr>
            <a:r>
              <a:rPr sz="1500" b="0" i="0">
                <a:solidFill>
                  <a:srgbClr val="C9D6D2"/>
                </a:solidFill>
                <a:latin typeface="Montserrat"/>
              </a:rPr>
              <a:t>What the money is, where it lands, and the distance between the costed need and what reaches the ground</a:t>
            </a:r>
          </a:p>
        </p:txBody>
      </p:sp>
      <p:sp>
        <p:nvSpPr>
          <p:cNvPr id="7" name="Rectangle 6"/>
          <p:cNvSpPr/>
          <p:nvPr/>
        </p:nvSpPr>
        <p:spPr>
          <a:xfrm>
            <a:off x="1024128" y="4892040"/>
            <a:ext cx="1371600" cy="41148"/>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5138928"/>
            <a:ext cx="8229600" cy="548640"/>
          </a:xfrm>
          <a:prstGeom prst="rect">
            <a:avLst/>
          </a:prstGeom>
          <a:noFill/>
        </p:spPr>
        <p:txBody>
          <a:bodyPr wrap="square" anchor="t" lIns="0" rIns="0" tIns="0" bIns="0">
            <a:spAutoFit/>
          </a:bodyPr>
          <a:lstStyle/>
          <a:p>
            <a:pPr algn="l">
              <a:lnSpc>
                <a:spcPct val="130000"/>
              </a:lnSpc>
              <a:spcAft>
                <a:spcPts val="0"/>
              </a:spcAft>
            </a:pPr>
            <a:r>
              <a:rPr sz="1050" b="0" i="0">
                <a:solidFill>
                  <a:srgbClr val="9FB2AD"/>
                </a:solidFill>
                <a:latin typeface="Montserrat"/>
              </a:rPr>
              <a:t>35 figures on the 2017 to 2024 record, drawn from GCA &amp; CPI, OECD DAC, the climate funds and the MDBs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66928"/>
            <a:ext cx="10515600" cy="457200"/>
          </a:xfrm>
          <a:prstGeom prst="rect">
            <a:avLst/>
          </a:prstGeom>
          <a:noFill/>
        </p:spPr>
        <p:txBody>
          <a:bodyPr wrap="square" anchor="t" lIns="0" rIns="0" tIns="0" bIns="0">
            <a:spAutoFit/>
          </a:bodyPr>
          <a:lstStyle/>
          <a:p>
            <a:pPr algn="l">
              <a:lnSpc>
                <a:spcPct val="125000"/>
              </a:lnSpc>
              <a:spcAft>
                <a:spcPts val="0"/>
              </a:spcAft>
            </a:pPr>
            <a:r>
              <a:rPr sz="2700" b="1" i="0">
                <a:solidFill>
                  <a:srgbClr val="123B33"/>
                </a:solidFill>
                <a:latin typeface="Montserrat"/>
              </a:rPr>
              <a:t>The argument in four numbers</a:t>
            </a:r>
          </a:p>
        </p:txBody>
      </p:sp>
      <p:sp>
        <p:nvSpPr>
          <p:cNvPr id="3" name="Rectangle 2"/>
          <p:cNvSpPr/>
          <p:nvPr/>
        </p:nvSpPr>
        <p:spPr>
          <a:xfrm>
            <a:off x="566928" y="1207008"/>
            <a:ext cx="1188720" cy="36576"/>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783080"/>
            <a:ext cx="2627299" cy="3200400"/>
          </a:xfrm>
          <a:prstGeom prst="rect">
            <a:avLst/>
          </a:prstGeom>
          <a:solidFill>
            <a:srgbClr val="F3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783080"/>
            <a:ext cx="2627299" cy="45720"/>
          </a:xfrm>
          <a:prstGeom prst="rect">
            <a:avLst/>
          </a:prstGeom>
          <a:solidFill>
            <a:srgbClr val="387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48840"/>
            <a:ext cx="2115235" cy="685800"/>
          </a:xfrm>
          <a:prstGeom prst="rect">
            <a:avLst/>
          </a:prstGeom>
          <a:noFill/>
        </p:spPr>
        <p:txBody>
          <a:bodyPr wrap="square" anchor="t" lIns="0" rIns="0" tIns="0" bIns="0">
            <a:spAutoFit/>
          </a:bodyPr>
          <a:lstStyle/>
          <a:p>
            <a:pPr algn="l">
              <a:lnSpc>
                <a:spcPct val="100000"/>
              </a:lnSpc>
              <a:spcAft>
                <a:spcPts val="0"/>
              </a:spcAft>
            </a:pPr>
            <a:r>
              <a:rPr sz="2600" b="1" i="0">
                <a:solidFill>
                  <a:srgbClr val="387167"/>
                </a:solidFill>
                <a:latin typeface="Montserrat"/>
              </a:rPr>
              <a:t>USD 70bn</a:t>
            </a:r>
          </a:p>
        </p:txBody>
      </p:sp>
      <p:sp>
        <p:nvSpPr>
          <p:cNvPr id="7" name="TextBox 6"/>
          <p:cNvSpPr txBox="1"/>
          <p:nvPr/>
        </p:nvSpPr>
        <p:spPr>
          <a:xfrm>
            <a:off x="822960" y="3017520"/>
            <a:ext cx="2115235" cy="1280160"/>
          </a:xfrm>
          <a:prstGeom prst="rect">
            <a:avLst/>
          </a:prstGeom>
          <a:noFill/>
        </p:spPr>
        <p:txBody>
          <a:bodyPr wrap="square" anchor="t" lIns="0" rIns="0" tIns="0" bIns="0">
            <a:spAutoFit/>
          </a:bodyPr>
          <a:lstStyle/>
          <a:p>
            <a:pPr algn="l">
              <a:lnSpc>
                <a:spcPct val="135000"/>
              </a:lnSpc>
              <a:spcAft>
                <a:spcPts val="0"/>
              </a:spcAft>
            </a:pPr>
            <a:r>
              <a:rPr sz="1250" b="0" i="0">
                <a:solidFill>
                  <a:srgbClr val="123B33"/>
                </a:solidFill>
                <a:latin typeface="Montserrat"/>
              </a:rPr>
              <a:t>a year is the costed need in Africa’s own NDCs</a:t>
            </a:r>
          </a:p>
        </p:txBody>
      </p:sp>
      <p:sp>
        <p:nvSpPr>
          <p:cNvPr id="8" name="TextBox 7"/>
          <p:cNvSpPr txBox="1"/>
          <p:nvPr/>
        </p:nvSpPr>
        <p:spPr>
          <a:xfrm>
            <a:off x="822960" y="4343400"/>
            <a:ext cx="2115235" cy="640080"/>
          </a:xfrm>
          <a:prstGeom prst="rect">
            <a:avLst/>
          </a:prstGeom>
          <a:noFill/>
        </p:spPr>
        <p:txBody>
          <a:bodyPr wrap="square" anchor="t" lIns="0" rIns="0" tIns="0" bIns="0">
            <a:spAutoFit/>
          </a:bodyPr>
          <a:lstStyle/>
          <a:p>
            <a:pPr algn="l">
              <a:lnSpc>
                <a:spcPct val="125000"/>
              </a:lnSpc>
              <a:spcAft>
                <a:spcPts val="0"/>
              </a:spcAft>
            </a:pPr>
            <a:r>
              <a:rPr sz="950" b="0" i="0">
                <a:solidFill>
                  <a:srgbClr val="6B6660"/>
                </a:solidFill>
                <a:latin typeface="Montserrat"/>
              </a:rPr>
              <a:t>What the continent says it requires</a:t>
            </a:r>
          </a:p>
        </p:txBody>
      </p:sp>
      <p:sp>
        <p:nvSpPr>
          <p:cNvPr id="9" name="Rectangle 8"/>
          <p:cNvSpPr/>
          <p:nvPr/>
        </p:nvSpPr>
        <p:spPr>
          <a:xfrm>
            <a:off x="3377107" y="1783080"/>
            <a:ext cx="2627299" cy="3200400"/>
          </a:xfrm>
          <a:prstGeom prst="rect">
            <a:avLst/>
          </a:prstGeom>
          <a:solidFill>
            <a:srgbClr val="F3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77107" y="1783080"/>
            <a:ext cx="2627299" cy="4572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3139" y="2148840"/>
            <a:ext cx="2115235" cy="685800"/>
          </a:xfrm>
          <a:prstGeom prst="rect">
            <a:avLst/>
          </a:prstGeom>
          <a:noFill/>
        </p:spPr>
        <p:txBody>
          <a:bodyPr wrap="square" anchor="t" lIns="0" rIns="0" tIns="0" bIns="0">
            <a:spAutoFit/>
          </a:bodyPr>
          <a:lstStyle/>
          <a:p>
            <a:pPr algn="l">
              <a:lnSpc>
                <a:spcPct val="100000"/>
              </a:lnSpc>
              <a:spcAft>
                <a:spcPts val="0"/>
              </a:spcAft>
            </a:pPr>
            <a:r>
              <a:rPr sz="2600" b="1" i="0">
                <a:solidFill>
                  <a:srgbClr val="387167"/>
                </a:solidFill>
                <a:latin typeface="Montserrat"/>
              </a:rPr>
              <a:t>USD 14.8bn</a:t>
            </a:r>
          </a:p>
        </p:txBody>
      </p:sp>
      <p:sp>
        <p:nvSpPr>
          <p:cNvPr id="12" name="TextBox 11"/>
          <p:cNvSpPr txBox="1"/>
          <p:nvPr/>
        </p:nvSpPr>
        <p:spPr>
          <a:xfrm>
            <a:off x="3633139" y="3017520"/>
            <a:ext cx="2115235" cy="1280160"/>
          </a:xfrm>
          <a:prstGeom prst="rect">
            <a:avLst/>
          </a:prstGeom>
          <a:noFill/>
        </p:spPr>
        <p:txBody>
          <a:bodyPr wrap="square" anchor="t" lIns="0" rIns="0" tIns="0" bIns="0">
            <a:spAutoFit/>
          </a:bodyPr>
          <a:lstStyle/>
          <a:p>
            <a:pPr algn="l">
              <a:lnSpc>
                <a:spcPct val="135000"/>
              </a:lnSpc>
              <a:spcAft>
                <a:spcPts val="0"/>
              </a:spcAft>
            </a:pPr>
            <a:r>
              <a:rPr sz="1250" b="0" i="0">
                <a:solidFill>
                  <a:srgbClr val="123B33"/>
                </a:solidFill>
                <a:latin typeface="Montserrat"/>
              </a:rPr>
              <a:t>was tracked as committed in 2023, down from a 2022 peak</a:t>
            </a:r>
          </a:p>
        </p:txBody>
      </p:sp>
      <p:sp>
        <p:nvSpPr>
          <p:cNvPr id="13" name="TextBox 12"/>
          <p:cNvSpPr txBox="1"/>
          <p:nvPr/>
        </p:nvSpPr>
        <p:spPr>
          <a:xfrm>
            <a:off x="3633139" y="4343400"/>
            <a:ext cx="2115235" cy="640080"/>
          </a:xfrm>
          <a:prstGeom prst="rect">
            <a:avLst/>
          </a:prstGeom>
          <a:noFill/>
        </p:spPr>
        <p:txBody>
          <a:bodyPr wrap="square" anchor="t" lIns="0" rIns="0" tIns="0" bIns="0">
            <a:spAutoFit/>
          </a:bodyPr>
          <a:lstStyle/>
          <a:p>
            <a:pPr algn="l">
              <a:lnSpc>
                <a:spcPct val="125000"/>
              </a:lnSpc>
              <a:spcAft>
                <a:spcPts val="0"/>
              </a:spcAft>
            </a:pPr>
            <a:r>
              <a:rPr sz="950" b="0" i="0">
                <a:solidFill>
                  <a:srgbClr val="6B6660"/>
                </a:solidFill>
                <a:latin typeface="Montserrat"/>
              </a:rPr>
              <a:t>A fifth of the need, and falling</a:t>
            </a:r>
          </a:p>
        </p:txBody>
      </p:sp>
      <p:sp>
        <p:nvSpPr>
          <p:cNvPr id="14" name="Rectangle 13"/>
          <p:cNvSpPr/>
          <p:nvPr/>
        </p:nvSpPr>
        <p:spPr>
          <a:xfrm>
            <a:off x="6187287" y="1783080"/>
            <a:ext cx="2627299" cy="3200400"/>
          </a:xfrm>
          <a:prstGeom prst="rect">
            <a:avLst/>
          </a:prstGeom>
          <a:solidFill>
            <a:srgbClr val="F3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7287" y="1783080"/>
            <a:ext cx="2627299" cy="45720"/>
          </a:xfrm>
          <a:prstGeom prst="rect">
            <a:avLst/>
          </a:prstGeom>
          <a:solidFill>
            <a:srgbClr val="387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2148840"/>
            <a:ext cx="2115235" cy="685800"/>
          </a:xfrm>
          <a:prstGeom prst="rect">
            <a:avLst/>
          </a:prstGeom>
          <a:noFill/>
        </p:spPr>
        <p:txBody>
          <a:bodyPr wrap="square" anchor="t" lIns="0" rIns="0" tIns="0" bIns="0">
            <a:spAutoFit/>
          </a:bodyPr>
          <a:lstStyle/>
          <a:p>
            <a:pPr algn="l">
              <a:lnSpc>
                <a:spcPct val="100000"/>
              </a:lnSpc>
              <a:spcAft>
                <a:spcPts val="0"/>
              </a:spcAft>
            </a:pPr>
            <a:r>
              <a:rPr sz="2600" b="1" i="0">
                <a:solidFill>
                  <a:srgbClr val="387167"/>
                </a:solidFill>
                <a:latin typeface="Montserrat"/>
              </a:rPr>
              <a:t>51%</a:t>
            </a:r>
          </a:p>
        </p:txBody>
      </p:sp>
      <p:sp>
        <p:nvSpPr>
          <p:cNvPr id="17" name="TextBox 16"/>
          <p:cNvSpPr txBox="1"/>
          <p:nvPr/>
        </p:nvSpPr>
        <p:spPr>
          <a:xfrm>
            <a:off x="6443319" y="3017520"/>
            <a:ext cx="2115235" cy="1280160"/>
          </a:xfrm>
          <a:prstGeom prst="rect">
            <a:avLst/>
          </a:prstGeom>
          <a:noFill/>
        </p:spPr>
        <p:txBody>
          <a:bodyPr wrap="square" anchor="t" lIns="0" rIns="0" tIns="0" bIns="0">
            <a:spAutoFit/>
          </a:bodyPr>
          <a:lstStyle/>
          <a:p>
            <a:pPr algn="l">
              <a:lnSpc>
                <a:spcPct val="135000"/>
              </a:lnSpc>
              <a:spcAft>
                <a:spcPts val="0"/>
              </a:spcAft>
            </a:pPr>
            <a:r>
              <a:rPr sz="1250" b="0" i="0">
                <a:solidFill>
                  <a:srgbClr val="123B33"/>
                </a:solidFill>
                <a:latin typeface="Montserrat"/>
              </a:rPr>
              <a:t>of climate finance to Africa arrives as debt</a:t>
            </a:r>
          </a:p>
        </p:txBody>
      </p:sp>
      <p:sp>
        <p:nvSpPr>
          <p:cNvPr id="18" name="TextBox 17"/>
          <p:cNvSpPr txBox="1"/>
          <p:nvPr/>
        </p:nvSpPr>
        <p:spPr>
          <a:xfrm>
            <a:off x="6443319" y="4343400"/>
            <a:ext cx="2115235" cy="640080"/>
          </a:xfrm>
          <a:prstGeom prst="rect">
            <a:avLst/>
          </a:prstGeom>
          <a:noFill/>
        </p:spPr>
        <p:txBody>
          <a:bodyPr wrap="square" anchor="t" lIns="0" rIns="0" tIns="0" bIns="0">
            <a:spAutoFit/>
          </a:bodyPr>
          <a:lstStyle/>
          <a:p>
            <a:pPr algn="l">
              <a:lnSpc>
                <a:spcPct val="125000"/>
              </a:lnSpc>
              <a:spcAft>
                <a:spcPts val="0"/>
              </a:spcAft>
            </a:pPr>
            <a:r>
              <a:rPr sz="950" b="0" i="0">
                <a:solidFill>
                  <a:srgbClr val="6B6660"/>
                </a:solidFill>
                <a:latin typeface="Montserrat"/>
              </a:rPr>
              <a:t>The highest share of any region</a:t>
            </a:r>
          </a:p>
        </p:txBody>
      </p:sp>
      <p:sp>
        <p:nvSpPr>
          <p:cNvPr id="19" name="Rectangle 18"/>
          <p:cNvSpPr/>
          <p:nvPr/>
        </p:nvSpPr>
        <p:spPr>
          <a:xfrm>
            <a:off x="8997467" y="1783080"/>
            <a:ext cx="2627299" cy="3200400"/>
          </a:xfrm>
          <a:prstGeom prst="rect">
            <a:avLst/>
          </a:prstGeom>
          <a:solidFill>
            <a:srgbClr val="F3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97467" y="1783080"/>
            <a:ext cx="2627299" cy="4572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53499" y="2148840"/>
            <a:ext cx="2115235" cy="685800"/>
          </a:xfrm>
          <a:prstGeom prst="rect">
            <a:avLst/>
          </a:prstGeom>
          <a:noFill/>
        </p:spPr>
        <p:txBody>
          <a:bodyPr wrap="square" anchor="t" lIns="0" rIns="0" tIns="0" bIns="0">
            <a:spAutoFit/>
          </a:bodyPr>
          <a:lstStyle/>
          <a:p>
            <a:pPr algn="l">
              <a:lnSpc>
                <a:spcPct val="100000"/>
              </a:lnSpc>
              <a:spcAft>
                <a:spcPts val="0"/>
              </a:spcAft>
            </a:pPr>
            <a:r>
              <a:rPr sz="2600" b="1" i="0">
                <a:solidFill>
                  <a:srgbClr val="387167"/>
                </a:solidFill>
                <a:latin typeface="Montserrat"/>
              </a:rPr>
              <a:t>~1%</a:t>
            </a:r>
          </a:p>
        </p:txBody>
      </p:sp>
      <p:sp>
        <p:nvSpPr>
          <p:cNvPr id="22" name="TextBox 21"/>
          <p:cNvSpPr txBox="1"/>
          <p:nvPr/>
        </p:nvSpPr>
        <p:spPr>
          <a:xfrm>
            <a:off x="9253499" y="3017520"/>
            <a:ext cx="2115235" cy="1280160"/>
          </a:xfrm>
          <a:prstGeom prst="rect">
            <a:avLst/>
          </a:prstGeom>
          <a:noFill/>
        </p:spPr>
        <p:txBody>
          <a:bodyPr wrap="square" anchor="t" lIns="0" rIns="0" tIns="0" bIns="0">
            <a:spAutoFit/>
          </a:bodyPr>
          <a:lstStyle/>
          <a:p>
            <a:pPr algn="l">
              <a:lnSpc>
                <a:spcPct val="135000"/>
              </a:lnSpc>
              <a:spcAft>
                <a:spcPts val="0"/>
              </a:spcAft>
            </a:pPr>
            <a:r>
              <a:rPr sz="1250" b="0" i="0">
                <a:solidFill>
                  <a:srgbClr val="123B33"/>
                </a:solidFill>
                <a:latin typeface="Montserrat"/>
              </a:rPr>
              <a:t>of the costed need is estimated to reach the local level</a:t>
            </a:r>
          </a:p>
        </p:txBody>
      </p:sp>
      <p:sp>
        <p:nvSpPr>
          <p:cNvPr id="23" name="TextBox 22"/>
          <p:cNvSpPr txBox="1"/>
          <p:nvPr/>
        </p:nvSpPr>
        <p:spPr>
          <a:xfrm>
            <a:off x="9253499" y="4343400"/>
            <a:ext cx="2115235" cy="640080"/>
          </a:xfrm>
          <a:prstGeom prst="rect">
            <a:avLst/>
          </a:prstGeom>
          <a:noFill/>
        </p:spPr>
        <p:txBody>
          <a:bodyPr wrap="square" anchor="t" lIns="0" rIns="0" tIns="0" bIns="0">
            <a:spAutoFit/>
          </a:bodyPr>
          <a:lstStyle/>
          <a:p>
            <a:pPr algn="l">
              <a:lnSpc>
                <a:spcPct val="125000"/>
              </a:lnSpc>
              <a:spcAft>
                <a:spcPts val="0"/>
              </a:spcAft>
            </a:pPr>
            <a:r>
              <a:rPr sz="950" b="0" i="0">
                <a:solidFill>
                  <a:srgbClr val="6B6660"/>
                </a:solidFill>
                <a:latin typeface="Montserrat"/>
              </a:rPr>
              <a:t>Illustrative ratio, not a tracked figure</a:t>
            </a:r>
          </a:p>
        </p:txBody>
      </p:sp>
      <p:sp>
        <p:nvSpPr>
          <p:cNvPr id="24" name="TextBox 23"/>
          <p:cNvSpPr txBox="1"/>
          <p:nvPr/>
        </p:nvSpPr>
        <p:spPr>
          <a:xfrm>
            <a:off x="566928" y="5257800"/>
            <a:ext cx="11057839" cy="731520"/>
          </a:xfrm>
          <a:prstGeom prst="rect">
            <a:avLst/>
          </a:prstGeom>
          <a:noFill/>
        </p:spPr>
        <p:txBody>
          <a:bodyPr wrap="square" anchor="t" lIns="0" rIns="0" tIns="0" bIns="0">
            <a:spAutoFit/>
          </a:bodyPr>
          <a:lstStyle/>
          <a:p>
            <a:pPr algn="l">
              <a:lnSpc>
                <a:spcPct val="140000"/>
              </a:lnSpc>
              <a:spcAft>
                <a:spcPts val="0"/>
              </a:spcAft>
            </a:pPr>
            <a:r>
              <a:rPr sz="1250" b="0" i="0">
                <a:solidFill>
                  <a:srgbClr val="2B2B2B"/>
                </a:solidFill>
                <a:latin typeface="Montserrat"/>
              </a:rPr>
              <a:t>The pack that follows takes those four numbers apart: how the flow has moved, who provides it and on what terms, where it lands by sector and stage, what the appraisal evidence says it is worth, and which countries are left out.</a:t>
            </a:r>
          </a:p>
        </p:txBody>
      </p:sp>
      <p:sp>
        <p:nvSpPr>
          <p:cNvPr id="25" name="TextBox 24"/>
          <p:cNvSpPr txBox="1"/>
          <p:nvPr/>
        </p:nvSpPr>
        <p:spPr>
          <a:xfrm>
            <a:off x="566928" y="5989320"/>
            <a:ext cx="11057839" cy="457200"/>
          </a:xfrm>
          <a:prstGeom prst="rect">
            <a:avLst/>
          </a:prstGeom>
          <a:noFill/>
        </p:spPr>
        <p:txBody>
          <a:bodyPr wrap="square" anchor="t" lIns="0" rIns="0" tIns="0" bIns="0">
            <a:spAutoFit/>
          </a:bodyPr>
          <a:lstStyle/>
          <a:p>
            <a:pPr algn="l">
              <a:lnSpc>
                <a:spcPct val="120000"/>
              </a:lnSpc>
              <a:spcAft>
                <a:spcPts val="0"/>
              </a:spcAft>
            </a:pPr>
            <a:r>
              <a:rPr sz="800" b="0" i="0">
                <a:solidFill>
                  <a:srgbClr val="6B6660"/>
                </a:solidFill>
                <a:latin typeface="Montserrat"/>
              </a:rPr>
              <a:t>Source: GCA &amp; CPI 2025; CPI Landscape of Climate Finance in Africa 2024; analyst estimate for the local-level ratio</a:t>
            </a:r>
          </a:p>
        </p:txBody>
      </p:sp>
      <p:sp>
        <p:nvSpPr>
          <p:cNvPr id="26" name="Rectangle 25"/>
          <p:cNvSpPr/>
          <p:nvPr/>
        </p:nvSpPr>
        <p:spPr>
          <a:xfrm>
            <a:off x="0" y="6583680"/>
            <a:ext cx="12191695" cy="32004"/>
          </a:xfrm>
          <a:prstGeom prst="rect">
            <a:avLst/>
          </a:prstGeom>
          <a:solidFill>
            <a:srgbClr val="E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27487" y="6638544"/>
            <a:ext cx="1097280" cy="201168"/>
          </a:xfrm>
          <a:prstGeom prst="rect">
            <a:avLst/>
          </a:prstGeom>
          <a:noFill/>
        </p:spPr>
        <p:txBody>
          <a:bodyPr wrap="square" anchor="t" lIns="0" rIns="0" tIns="0" bIns="0">
            <a:spAutoFit/>
          </a:bodyPr>
          <a:lstStyle/>
          <a:p>
            <a:pPr algn="r">
              <a:lnSpc>
                <a:spcPct val="125000"/>
              </a:lnSpc>
              <a:spcAft>
                <a:spcPts val="0"/>
              </a:spcAft>
            </a:pPr>
            <a:r>
              <a:rPr sz="800" b="1" i="0">
                <a:solidFill>
                  <a:srgbClr val="6B6660"/>
                </a:solidFill>
                <a:latin typeface="Montserra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87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2286000"/>
            <a:ext cx="1828800" cy="822960"/>
          </a:xfrm>
          <a:prstGeom prst="rect">
            <a:avLst/>
          </a:prstGeom>
          <a:noFill/>
        </p:spPr>
        <p:txBody>
          <a:bodyPr wrap="square" anchor="t" lIns="0" rIns="0" tIns="0" bIns="0">
            <a:spAutoFit/>
          </a:bodyPr>
          <a:lstStyle/>
          <a:p>
            <a:pPr algn="l">
              <a:lnSpc>
                <a:spcPct val="100000"/>
              </a:lnSpc>
              <a:spcAft>
                <a:spcPts val="0"/>
              </a:spcAft>
            </a:pPr>
            <a:r>
              <a:rPr sz="5200" b="1" i="0">
                <a:solidFill>
                  <a:srgbClr val="98C11F"/>
                </a:solidFill>
                <a:latin typeface="Montserrat"/>
              </a:rPr>
              <a:t>I</a:t>
            </a:r>
          </a:p>
        </p:txBody>
      </p:sp>
      <p:sp>
        <p:nvSpPr>
          <p:cNvPr id="5" name="TextBox 4"/>
          <p:cNvSpPr txBox="1"/>
          <p:nvPr/>
        </p:nvSpPr>
        <p:spPr>
          <a:xfrm>
            <a:off x="1024128" y="3154680"/>
            <a:ext cx="8961120" cy="822960"/>
          </a:xfrm>
          <a:prstGeom prst="rect">
            <a:avLst/>
          </a:prstGeom>
          <a:noFill/>
        </p:spPr>
        <p:txBody>
          <a:bodyPr wrap="square" anchor="t" lIns="0" rIns="0" tIns="0" bIns="0">
            <a:spAutoFit/>
          </a:bodyPr>
          <a:lstStyle/>
          <a:p>
            <a:pPr algn="l">
              <a:lnSpc>
                <a:spcPct val="105000"/>
              </a:lnSpc>
              <a:spcAft>
                <a:spcPts val="0"/>
              </a:spcAft>
            </a:pPr>
            <a:r>
              <a:rPr sz="3300" b="1" i="0">
                <a:solidFill>
                  <a:srgbClr val="FFFFFF"/>
                </a:solidFill>
                <a:latin typeface="Montserrat"/>
              </a:rPr>
              <a:t>Flows and the gap</a:t>
            </a:r>
          </a:p>
        </p:txBody>
      </p:sp>
      <p:sp>
        <p:nvSpPr>
          <p:cNvPr id="6" name="TextBox 5"/>
          <p:cNvSpPr txBox="1"/>
          <p:nvPr/>
        </p:nvSpPr>
        <p:spPr>
          <a:xfrm>
            <a:off x="1024128" y="4114800"/>
            <a:ext cx="7863840" cy="1005840"/>
          </a:xfrm>
          <a:prstGeom prst="rect">
            <a:avLst/>
          </a:prstGeom>
          <a:noFill/>
        </p:spPr>
        <p:txBody>
          <a:bodyPr wrap="square" anchor="t" lIns="0" rIns="0" tIns="0" bIns="0">
            <a:spAutoFit/>
          </a:bodyPr>
          <a:lstStyle/>
          <a:p>
            <a:pPr algn="l">
              <a:lnSpc>
                <a:spcPct val="140000"/>
              </a:lnSpc>
              <a:spcAft>
                <a:spcPts val="0"/>
              </a:spcAft>
            </a:pPr>
            <a:r>
              <a:rPr sz="1400" b="0" i="0">
                <a:solidFill>
                  <a:srgbClr val="D3E0DC"/>
                </a:solidFill>
                <a:latin typeface="Montserrat"/>
              </a:rPr>
              <a:t>How much adaptation finance Africa actually receives, how that has moved since 2017, and how far it sits from the costed need.</a:t>
            </a:r>
          </a:p>
        </p:txBody>
      </p:sp>
      <p:sp>
        <p:nvSpPr>
          <p:cNvPr id="7" name="TextBox 6"/>
          <p:cNvSpPr txBox="1"/>
          <p:nvPr/>
        </p:nvSpPr>
        <p:spPr>
          <a:xfrm>
            <a:off x="8515807" y="4114800"/>
            <a:ext cx="3108960" cy="365760"/>
          </a:xfrm>
          <a:prstGeom prst="rect">
            <a:avLst/>
          </a:prstGeom>
          <a:noFill/>
        </p:spPr>
        <p:txBody>
          <a:bodyPr wrap="square" anchor="t" lIns="0" rIns="0" tIns="0" bIns="0">
            <a:spAutoFit/>
          </a:bodyPr>
          <a:lstStyle/>
          <a:p>
            <a:pPr algn="r">
              <a:lnSpc>
                <a:spcPct val="125000"/>
              </a:lnSpc>
              <a:spcAft>
                <a:spcPts val="0"/>
              </a:spcAft>
            </a:pPr>
            <a:r>
              <a:rPr sz="1000" b="1" i="0">
                <a:solidFill>
                  <a:srgbClr val="98C11F"/>
                </a:solidFill>
                <a:latin typeface="Montserrat"/>
              </a:rPr>
              <a:t>FIGURES 01–05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7498079" cy="320040"/>
          </a:xfrm>
          <a:prstGeom prst="rect">
            <a:avLst/>
          </a:prstGeom>
          <a:noFill/>
        </p:spPr>
        <p:txBody>
          <a:bodyPr wrap="square" anchor="t" lIns="0" rIns="0" tIns="0" bIns="0">
            <a:spAutoFit/>
          </a:bodyPr>
          <a:lstStyle/>
          <a:p>
            <a:pPr algn="l">
              <a:lnSpc>
                <a:spcPct val="125000"/>
              </a:lnSpc>
              <a:spcAft>
                <a:spcPts val="0"/>
              </a:spcAft>
            </a:pPr>
            <a:r>
              <a:rPr sz="900" b="1" i="0">
                <a:solidFill>
                  <a:srgbClr val="387167"/>
                </a:solidFill>
                <a:latin typeface="Montserrat"/>
              </a:rPr>
              <a:t>I · FLOWS AND THE GAP</a:t>
            </a:r>
          </a:p>
        </p:txBody>
      </p:sp>
      <p:sp>
        <p:nvSpPr>
          <p:cNvPr id="3" name="TextBox 2"/>
          <p:cNvSpPr txBox="1"/>
          <p:nvPr/>
        </p:nvSpPr>
        <p:spPr>
          <a:xfrm>
            <a:off x="566928" y="749808"/>
            <a:ext cx="10874959" cy="777240"/>
          </a:xfrm>
          <a:prstGeom prst="rect">
            <a:avLst/>
          </a:prstGeom>
          <a:noFill/>
        </p:spPr>
        <p:txBody>
          <a:bodyPr wrap="square" anchor="t" lIns="0" rIns="0" tIns="0" bIns="0">
            <a:spAutoFit/>
          </a:bodyPr>
          <a:lstStyle/>
          <a:p>
            <a:pPr algn="l">
              <a:lnSpc>
                <a:spcPct val="112000"/>
              </a:lnSpc>
              <a:spcAft>
                <a:spcPts val="0"/>
              </a:spcAft>
            </a:pPr>
            <a:r>
              <a:rPr sz="2100" b="1" i="0">
                <a:solidFill>
                  <a:srgbClr val="123B33"/>
                </a:solidFill>
                <a:latin typeface="Montserrat"/>
              </a:rPr>
              <a:t>Adaptation finance to Africa rose to a 2022 peak and has fallen for two years</a:t>
            </a:r>
          </a:p>
        </p:txBody>
      </p:sp>
      <p:sp>
        <p:nvSpPr>
          <p:cNvPr id="4" name="Rectangle 3"/>
          <p:cNvSpPr/>
          <p:nvPr/>
        </p:nvSpPr>
        <p:spPr>
          <a:xfrm>
            <a:off x="566928" y="1627632"/>
            <a:ext cx="822960" cy="32004"/>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01_headline_series.png"/>
          <p:cNvPicPr>
            <a:picLocks noChangeAspect="1"/>
          </p:cNvPicPr>
          <p:nvPr/>
        </p:nvPicPr>
        <p:blipFill>
          <a:blip r:embed="rId2"/>
          <a:stretch>
            <a:fillRect/>
          </a:stretch>
        </p:blipFill>
        <p:spPr>
          <a:xfrm>
            <a:off x="566928" y="2223959"/>
            <a:ext cx="7452360" cy="3233041"/>
          </a:xfrm>
          <a:prstGeom prst="rect">
            <a:avLst/>
          </a:prstGeom>
        </p:spPr>
      </p:pic>
      <p:sp>
        <p:nvSpPr>
          <p:cNvPr id="6" name="TextBox 5"/>
          <p:cNvSpPr txBox="1"/>
          <p:nvPr/>
        </p:nvSpPr>
        <p:spPr>
          <a:xfrm>
            <a:off x="8385048" y="1783080"/>
            <a:ext cx="3239719" cy="274320"/>
          </a:xfrm>
          <a:prstGeom prst="rect">
            <a:avLst/>
          </a:prstGeom>
          <a:noFill/>
        </p:spPr>
        <p:txBody>
          <a:bodyPr wrap="square" anchor="t" lIns="0" rIns="0" tIns="0" bIns="0">
            <a:spAutoFit/>
          </a:bodyPr>
          <a:lstStyle/>
          <a:p>
            <a:pPr algn="l">
              <a:lnSpc>
                <a:spcPct val="125000"/>
              </a:lnSpc>
              <a:spcAft>
                <a:spcPts val="0"/>
              </a:spcAft>
            </a:pPr>
            <a:r>
              <a:rPr sz="850" b="1" i="0">
                <a:solidFill>
                  <a:srgbClr val="6B6660"/>
                </a:solidFill>
                <a:latin typeface="Montserrat"/>
              </a:rPr>
              <a:t>WHAT IT SHOWS</a:t>
            </a:r>
          </a:p>
        </p:txBody>
      </p:sp>
      <p:sp>
        <p:nvSpPr>
          <p:cNvPr id="7" name="TextBox 6"/>
          <p:cNvSpPr txBox="1"/>
          <p:nvPr/>
        </p:nvSpPr>
        <p:spPr>
          <a:xfrm>
            <a:off x="8385048" y="2148840"/>
            <a:ext cx="3239719" cy="3566160"/>
          </a:xfrm>
          <a:prstGeom prst="rect">
            <a:avLst/>
          </a:prstGeom>
          <a:noFill/>
        </p:spPr>
        <p:txBody>
          <a:bodyPr wrap="square" lIns="0" rIns="0" tIns="0" bIns="0">
            <a:spAutoFit/>
          </a:bodyPr>
          <a:lstStyle/>
          <a:p>
            <a:pPr>
              <a:lnSpc>
                <a:spcPct val="130000"/>
              </a:lnSpc>
              <a:spcAft>
                <a:spcPts val="900"/>
              </a:spcAft>
            </a:pPr>
            <a:r>
              <a:rPr sz="1150" b="1">
                <a:solidFill>
                  <a:srgbClr val="98C11F"/>
                </a:solidFill>
                <a:latin typeface="Montserrat"/>
              </a:rPr>
              <a:t>—  </a:t>
            </a:r>
            <a:r>
              <a:rPr sz="1150">
                <a:solidFill>
                  <a:srgbClr val="2B2B2B"/>
                </a:solidFill>
                <a:latin typeface="Montserrat"/>
              </a:rPr>
              <a:t>Nominal commitments ran USD 6.3bn (2017) to a peak of USD 16.4bn (2022), then fell to USD 14.8bn in 2023.</a:t>
            </a:r>
          </a:p>
          <a:p>
            <a:pPr>
              <a:lnSpc>
                <a:spcPct val="130000"/>
              </a:lnSpc>
              <a:spcAft>
                <a:spcPts val="900"/>
              </a:spcAft>
            </a:pPr>
            <a:r>
              <a:rPr sz="1150" b="1">
                <a:solidFill>
                  <a:srgbClr val="98C11F"/>
                </a:solidFill>
                <a:latin typeface="Montserrat"/>
              </a:rPr>
              <a:t>—  </a:t>
            </a:r>
            <a:r>
              <a:rPr sz="1150">
                <a:solidFill>
                  <a:srgbClr val="2B2B2B"/>
                </a:solidFill>
                <a:latin typeface="Montserrat"/>
              </a:rPr>
              <a:t>In 2017 dollars the fall is sharper: USD 13.9bn to USD 12.1bn.</a:t>
            </a:r>
          </a:p>
          <a:p>
            <a:pPr>
              <a:lnSpc>
                <a:spcPct val="130000"/>
              </a:lnSpc>
              <a:spcAft>
                <a:spcPts val="900"/>
              </a:spcAft>
            </a:pPr>
            <a:r>
              <a:rPr sz="1150" b="1">
                <a:solidFill>
                  <a:srgbClr val="98C11F"/>
                </a:solidFill>
                <a:latin typeface="Montserrat"/>
              </a:rPr>
              <a:t>—  </a:t>
            </a:r>
            <a:r>
              <a:rPr sz="1150">
                <a:solidFill>
                  <a:srgbClr val="2B2B2B"/>
                </a:solidFill>
                <a:latin typeface="Montserrat"/>
              </a:rPr>
              <a:t>Sub-Saharan Africa fell a further 15% in 2024, to USD 11.0bn.</a:t>
            </a:r>
          </a:p>
          <a:p>
            <a:pPr>
              <a:lnSpc>
                <a:spcPct val="130000"/>
              </a:lnSpc>
              <a:spcAft>
                <a:spcPts val="900"/>
              </a:spcAft>
            </a:pPr>
            <a:r>
              <a:rPr sz="1150" b="1">
                <a:solidFill>
                  <a:srgbClr val="98C11F"/>
                </a:solidFill>
                <a:latin typeface="Montserrat"/>
              </a:rPr>
              <a:t>—  </a:t>
            </a:r>
            <a:r>
              <a:rPr sz="1150">
                <a:solidFill>
                  <a:srgbClr val="2B2B2B"/>
                </a:solidFill>
                <a:latin typeface="Montserrat"/>
              </a:rPr>
              <a:t>Earlier vintages of the same accounting sit higher, so the peak is partly a measurement artefact - the direction is not.</a:t>
            </a:r>
          </a:p>
        </p:txBody>
      </p:sp>
      <p:sp>
        <p:nvSpPr>
          <p:cNvPr id="8" name="TextBox 7"/>
          <p:cNvSpPr txBox="1"/>
          <p:nvPr/>
        </p:nvSpPr>
        <p:spPr>
          <a:xfrm>
            <a:off x="566928" y="6053328"/>
            <a:ext cx="11057839" cy="457200"/>
          </a:xfrm>
          <a:prstGeom prst="rect">
            <a:avLst/>
          </a:prstGeom>
          <a:noFill/>
        </p:spPr>
        <p:txBody>
          <a:bodyPr wrap="square" anchor="t" lIns="0" rIns="0" tIns="0" bIns="0">
            <a:spAutoFit/>
          </a:bodyPr>
          <a:lstStyle/>
          <a:p>
            <a:pPr algn="l">
              <a:lnSpc>
                <a:spcPct val="120000"/>
              </a:lnSpc>
              <a:spcAft>
                <a:spcPts val="0"/>
              </a:spcAft>
            </a:pPr>
            <a:r>
              <a:rPr sz="800" b="0" i="0">
                <a:solidFill>
                  <a:srgbClr val="6B6660"/>
                </a:solidFill>
                <a:latin typeface="Montserrat"/>
              </a:rPr>
              <a:t>Source: GCA &amp; CPI, Adaptation Finance Flows to Africa, 2025, Figures 1 and 4; CPI Global Landscape of Climate Finance 2026</a:t>
            </a:r>
          </a:p>
        </p:txBody>
      </p:sp>
      <p:sp>
        <p:nvSpPr>
          <p:cNvPr id="9" name="Rectangle 8"/>
          <p:cNvSpPr/>
          <p:nvPr/>
        </p:nvSpPr>
        <p:spPr>
          <a:xfrm>
            <a:off x="0" y="6583680"/>
            <a:ext cx="12191695" cy="32004"/>
          </a:xfrm>
          <a:prstGeom prst="rect">
            <a:avLst/>
          </a:prstGeom>
          <a:solidFill>
            <a:srgbClr val="E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638544"/>
            <a:ext cx="6400800" cy="201168"/>
          </a:xfrm>
          <a:prstGeom prst="rect">
            <a:avLst/>
          </a:prstGeom>
          <a:noFill/>
        </p:spPr>
        <p:txBody>
          <a:bodyPr wrap="square" anchor="t" lIns="0" rIns="0" tIns="0" bIns="0">
            <a:spAutoFit/>
          </a:bodyPr>
          <a:lstStyle/>
          <a:p>
            <a:pPr algn="l">
              <a:lnSpc>
                <a:spcPct val="125000"/>
              </a:lnSpc>
              <a:spcAft>
                <a:spcPts val="0"/>
              </a:spcAft>
            </a:pPr>
            <a:r>
              <a:rPr sz="800" b="1" i="0">
                <a:solidFill>
                  <a:srgbClr val="6B6660"/>
                </a:solidFill>
                <a:latin typeface="Montserrat"/>
              </a:rPr>
              <a:t>I · FLOWS AND THE GAP</a:t>
            </a:r>
          </a:p>
        </p:txBody>
      </p:sp>
      <p:sp>
        <p:nvSpPr>
          <p:cNvPr id="11" name="TextBox 10"/>
          <p:cNvSpPr txBox="1"/>
          <p:nvPr/>
        </p:nvSpPr>
        <p:spPr>
          <a:xfrm>
            <a:off x="10527487" y="6638544"/>
            <a:ext cx="1097280" cy="201168"/>
          </a:xfrm>
          <a:prstGeom prst="rect">
            <a:avLst/>
          </a:prstGeom>
          <a:noFill/>
        </p:spPr>
        <p:txBody>
          <a:bodyPr wrap="square" anchor="t" lIns="0" rIns="0" tIns="0" bIns="0">
            <a:spAutoFit/>
          </a:bodyPr>
          <a:lstStyle/>
          <a:p>
            <a:pPr algn="r">
              <a:lnSpc>
                <a:spcPct val="125000"/>
              </a:lnSpc>
              <a:spcAft>
                <a:spcPts val="0"/>
              </a:spcAft>
            </a:pPr>
            <a:r>
              <a:rPr sz="800" b="1" i="0">
                <a:solidFill>
                  <a:srgbClr val="6B6660"/>
                </a:solidFill>
                <a:latin typeface="Montserra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7498079" cy="320040"/>
          </a:xfrm>
          <a:prstGeom prst="rect">
            <a:avLst/>
          </a:prstGeom>
          <a:noFill/>
        </p:spPr>
        <p:txBody>
          <a:bodyPr wrap="square" anchor="t" lIns="0" rIns="0" tIns="0" bIns="0">
            <a:spAutoFit/>
          </a:bodyPr>
          <a:lstStyle/>
          <a:p>
            <a:pPr algn="l">
              <a:lnSpc>
                <a:spcPct val="125000"/>
              </a:lnSpc>
              <a:spcAft>
                <a:spcPts val="0"/>
              </a:spcAft>
            </a:pPr>
            <a:r>
              <a:rPr sz="900" b="1" i="0">
                <a:solidFill>
                  <a:srgbClr val="387167"/>
                </a:solidFill>
                <a:latin typeface="Montserrat"/>
              </a:rPr>
              <a:t>I · FLOWS AND THE GAP</a:t>
            </a:r>
          </a:p>
        </p:txBody>
      </p:sp>
      <p:sp>
        <p:nvSpPr>
          <p:cNvPr id="3" name="TextBox 2"/>
          <p:cNvSpPr txBox="1"/>
          <p:nvPr/>
        </p:nvSpPr>
        <p:spPr>
          <a:xfrm>
            <a:off x="566928" y="749808"/>
            <a:ext cx="10874959" cy="777240"/>
          </a:xfrm>
          <a:prstGeom prst="rect">
            <a:avLst/>
          </a:prstGeom>
          <a:noFill/>
        </p:spPr>
        <p:txBody>
          <a:bodyPr wrap="square" anchor="t" lIns="0" rIns="0" tIns="0" bIns="0">
            <a:spAutoFit/>
          </a:bodyPr>
          <a:lstStyle/>
          <a:p>
            <a:pPr algn="l">
              <a:lnSpc>
                <a:spcPct val="112000"/>
              </a:lnSpc>
              <a:spcAft>
                <a:spcPts val="0"/>
              </a:spcAft>
            </a:pPr>
            <a:r>
              <a:rPr sz="2100" b="1" i="0">
                <a:solidFill>
                  <a:srgbClr val="123B33"/>
                </a:solidFill>
                <a:latin typeface="Montserrat"/>
              </a:rPr>
              <a:t>From USD 70bn of costed need, roughly one per cent is reaching the local level</a:t>
            </a:r>
          </a:p>
        </p:txBody>
      </p:sp>
      <p:sp>
        <p:nvSpPr>
          <p:cNvPr id="4" name="Rectangle 3"/>
          <p:cNvSpPr/>
          <p:nvPr/>
        </p:nvSpPr>
        <p:spPr>
          <a:xfrm>
            <a:off x="566928" y="1627632"/>
            <a:ext cx="822960" cy="32004"/>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25_need_funnel.png"/>
          <p:cNvPicPr>
            <a:picLocks noChangeAspect="1"/>
          </p:cNvPicPr>
          <p:nvPr/>
        </p:nvPicPr>
        <p:blipFill>
          <a:blip r:embed="rId2"/>
          <a:stretch>
            <a:fillRect/>
          </a:stretch>
        </p:blipFill>
        <p:spPr>
          <a:xfrm>
            <a:off x="566928" y="2597160"/>
            <a:ext cx="7452360" cy="2486639"/>
          </a:xfrm>
          <a:prstGeom prst="rect">
            <a:avLst/>
          </a:prstGeom>
        </p:spPr>
      </p:pic>
      <p:sp>
        <p:nvSpPr>
          <p:cNvPr id="6" name="TextBox 5"/>
          <p:cNvSpPr txBox="1"/>
          <p:nvPr/>
        </p:nvSpPr>
        <p:spPr>
          <a:xfrm>
            <a:off x="8385048" y="1783080"/>
            <a:ext cx="3239719" cy="274320"/>
          </a:xfrm>
          <a:prstGeom prst="rect">
            <a:avLst/>
          </a:prstGeom>
          <a:noFill/>
        </p:spPr>
        <p:txBody>
          <a:bodyPr wrap="square" anchor="t" lIns="0" rIns="0" tIns="0" bIns="0">
            <a:spAutoFit/>
          </a:bodyPr>
          <a:lstStyle/>
          <a:p>
            <a:pPr algn="l">
              <a:lnSpc>
                <a:spcPct val="125000"/>
              </a:lnSpc>
              <a:spcAft>
                <a:spcPts val="0"/>
              </a:spcAft>
            </a:pPr>
            <a:r>
              <a:rPr sz="850" b="1" i="0">
                <a:solidFill>
                  <a:srgbClr val="6B6660"/>
                </a:solidFill>
                <a:latin typeface="Montserrat"/>
              </a:rPr>
              <a:t>WHAT IT SHOWS</a:t>
            </a:r>
          </a:p>
        </p:txBody>
      </p:sp>
      <p:sp>
        <p:nvSpPr>
          <p:cNvPr id="7" name="TextBox 6"/>
          <p:cNvSpPr txBox="1"/>
          <p:nvPr/>
        </p:nvSpPr>
        <p:spPr>
          <a:xfrm>
            <a:off x="8385048" y="2148840"/>
            <a:ext cx="3239719" cy="3566160"/>
          </a:xfrm>
          <a:prstGeom prst="rect">
            <a:avLst/>
          </a:prstGeom>
          <a:noFill/>
        </p:spPr>
        <p:txBody>
          <a:bodyPr wrap="square" lIns="0" rIns="0" tIns="0" bIns="0">
            <a:spAutoFit/>
          </a:bodyPr>
          <a:lstStyle/>
          <a:p>
            <a:pPr>
              <a:lnSpc>
                <a:spcPct val="130000"/>
              </a:lnSpc>
              <a:spcAft>
                <a:spcPts val="900"/>
              </a:spcAft>
            </a:pPr>
            <a:r>
              <a:rPr sz="1150" b="1">
                <a:solidFill>
                  <a:srgbClr val="98C11F"/>
                </a:solidFill>
                <a:latin typeface="Montserrat"/>
              </a:rPr>
              <a:t>—  </a:t>
            </a:r>
            <a:r>
              <a:rPr sz="1150">
                <a:solidFill>
                  <a:srgbClr val="2B2B2B"/>
                </a:solidFill>
                <a:latin typeface="Montserrat"/>
              </a:rPr>
              <a:t>Africa’s NDCs cost the need at about USD 70bn a year.</a:t>
            </a:r>
          </a:p>
          <a:p>
            <a:pPr>
              <a:lnSpc>
                <a:spcPct val="130000"/>
              </a:lnSpc>
              <a:spcAft>
                <a:spcPts val="900"/>
              </a:spcAft>
            </a:pPr>
            <a:r>
              <a:rPr sz="1150" b="1">
                <a:solidFill>
                  <a:srgbClr val="98C11F"/>
                </a:solidFill>
                <a:latin typeface="Montserrat"/>
              </a:rPr>
              <a:t>—  </a:t>
            </a:r>
            <a:r>
              <a:rPr sz="1150">
                <a:solidFill>
                  <a:srgbClr val="2B2B2B"/>
                </a:solidFill>
                <a:latin typeface="Montserrat"/>
              </a:rPr>
              <a:t>USD 14.8bn was tracked as committed in 2023 - a 79% drop at the first step.</a:t>
            </a:r>
          </a:p>
          <a:p>
            <a:pPr>
              <a:lnSpc>
                <a:spcPct val="130000"/>
              </a:lnSpc>
              <a:spcAft>
                <a:spcPts val="900"/>
              </a:spcAft>
            </a:pPr>
            <a:r>
              <a:rPr sz="1150" b="1">
                <a:solidFill>
                  <a:srgbClr val="98C11F"/>
                </a:solidFill>
                <a:latin typeface="Montserrat"/>
              </a:rPr>
              <a:t>—  </a:t>
            </a:r>
            <a:r>
              <a:rPr sz="1150">
                <a:solidFill>
                  <a:srgbClr val="2B2B2B"/>
                </a:solidFill>
                <a:latin typeface="Montserrat"/>
              </a:rPr>
              <a:t>On an illustrative 46% disbursement ratio, USD 6.8bn is actually paid out.</a:t>
            </a:r>
          </a:p>
          <a:p>
            <a:pPr>
              <a:lnSpc>
                <a:spcPct val="130000"/>
              </a:lnSpc>
              <a:spcAft>
                <a:spcPts val="900"/>
              </a:spcAft>
            </a:pPr>
            <a:r>
              <a:rPr sz="1150" b="1">
                <a:solidFill>
                  <a:srgbClr val="98C11F"/>
                </a:solidFill>
                <a:latin typeface="Montserrat"/>
              </a:rPr>
              <a:t>—  </a:t>
            </a:r>
            <a:r>
              <a:rPr sz="1150">
                <a:solidFill>
                  <a:srgbClr val="2B2B2B"/>
                </a:solidFill>
                <a:latin typeface="Montserrat"/>
              </a:rPr>
              <a:t>Under 10% of that is estimated to reach the local level: USD 0.7bn, or ~1% of the need. The last two steps are ratios from the literature, not tracked data.</a:t>
            </a:r>
          </a:p>
        </p:txBody>
      </p:sp>
      <p:sp>
        <p:nvSpPr>
          <p:cNvPr id="8" name="TextBox 7"/>
          <p:cNvSpPr txBox="1"/>
          <p:nvPr/>
        </p:nvSpPr>
        <p:spPr>
          <a:xfrm>
            <a:off x="566928" y="6053328"/>
            <a:ext cx="11057839" cy="457200"/>
          </a:xfrm>
          <a:prstGeom prst="rect">
            <a:avLst/>
          </a:prstGeom>
          <a:noFill/>
        </p:spPr>
        <p:txBody>
          <a:bodyPr wrap="square" anchor="t" lIns="0" rIns="0" tIns="0" bIns="0">
            <a:spAutoFit/>
          </a:bodyPr>
          <a:lstStyle/>
          <a:p>
            <a:pPr algn="l">
              <a:lnSpc>
                <a:spcPct val="120000"/>
              </a:lnSpc>
              <a:spcAft>
                <a:spcPts val="0"/>
              </a:spcAft>
            </a:pPr>
            <a:r>
              <a:rPr sz="800" b="0" i="0">
                <a:solidFill>
                  <a:srgbClr val="6B6660"/>
                </a:solidFill>
                <a:latin typeface="Montserrat"/>
              </a:rPr>
              <a:t>Source: GCA &amp; CPI 2025 for need and commitments; disbursement and local-level shares are illustrative ratios drawn from the literature</a:t>
            </a:r>
          </a:p>
        </p:txBody>
      </p:sp>
      <p:sp>
        <p:nvSpPr>
          <p:cNvPr id="9" name="Rectangle 8"/>
          <p:cNvSpPr/>
          <p:nvPr/>
        </p:nvSpPr>
        <p:spPr>
          <a:xfrm>
            <a:off x="0" y="6583680"/>
            <a:ext cx="12191695" cy="32004"/>
          </a:xfrm>
          <a:prstGeom prst="rect">
            <a:avLst/>
          </a:prstGeom>
          <a:solidFill>
            <a:srgbClr val="E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638544"/>
            <a:ext cx="6400800" cy="201168"/>
          </a:xfrm>
          <a:prstGeom prst="rect">
            <a:avLst/>
          </a:prstGeom>
          <a:noFill/>
        </p:spPr>
        <p:txBody>
          <a:bodyPr wrap="square" anchor="t" lIns="0" rIns="0" tIns="0" bIns="0">
            <a:spAutoFit/>
          </a:bodyPr>
          <a:lstStyle/>
          <a:p>
            <a:pPr algn="l">
              <a:lnSpc>
                <a:spcPct val="125000"/>
              </a:lnSpc>
              <a:spcAft>
                <a:spcPts val="0"/>
              </a:spcAft>
            </a:pPr>
            <a:r>
              <a:rPr sz="800" b="1" i="0">
                <a:solidFill>
                  <a:srgbClr val="6B6660"/>
                </a:solidFill>
                <a:latin typeface="Montserrat"/>
              </a:rPr>
              <a:t>I · FLOWS AND THE GAP</a:t>
            </a:r>
          </a:p>
        </p:txBody>
      </p:sp>
      <p:sp>
        <p:nvSpPr>
          <p:cNvPr id="11" name="TextBox 10"/>
          <p:cNvSpPr txBox="1"/>
          <p:nvPr/>
        </p:nvSpPr>
        <p:spPr>
          <a:xfrm>
            <a:off x="10527487" y="6638544"/>
            <a:ext cx="1097280" cy="201168"/>
          </a:xfrm>
          <a:prstGeom prst="rect">
            <a:avLst/>
          </a:prstGeom>
          <a:noFill/>
        </p:spPr>
        <p:txBody>
          <a:bodyPr wrap="square" anchor="t" lIns="0" rIns="0" tIns="0" bIns="0">
            <a:spAutoFit/>
          </a:bodyPr>
          <a:lstStyle/>
          <a:p>
            <a:pPr algn="r">
              <a:lnSpc>
                <a:spcPct val="125000"/>
              </a:lnSpc>
              <a:spcAft>
                <a:spcPts val="0"/>
              </a:spcAft>
            </a:pPr>
            <a:r>
              <a:rPr sz="800" b="1" i="0">
                <a:solidFill>
                  <a:srgbClr val="6B6660"/>
                </a:solidFill>
                <a:latin typeface="Montserra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87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2286000"/>
            <a:ext cx="1828800" cy="822960"/>
          </a:xfrm>
          <a:prstGeom prst="rect">
            <a:avLst/>
          </a:prstGeom>
          <a:noFill/>
        </p:spPr>
        <p:txBody>
          <a:bodyPr wrap="square" anchor="t" lIns="0" rIns="0" tIns="0" bIns="0">
            <a:spAutoFit/>
          </a:bodyPr>
          <a:lstStyle/>
          <a:p>
            <a:pPr algn="l">
              <a:lnSpc>
                <a:spcPct val="100000"/>
              </a:lnSpc>
              <a:spcAft>
                <a:spcPts val="0"/>
              </a:spcAft>
            </a:pPr>
            <a:r>
              <a:rPr sz="5200" b="1" i="0">
                <a:solidFill>
                  <a:srgbClr val="98C11F"/>
                </a:solidFill>
                <a:latin typeface="Montserrat"/>
              </a:rPr>
              <a:t>II</a:t>
            </a:r>
          </a:p>
        </p:txBody>
      </p:sp>
      <p:sp>
        <p:nvSpPr>
          <p:cNvPr id="5" name="TextBox 4"/>
          <p:cNvSpPr txBox="1"/>
          <p:nvPr/>
        </p:nvSpPr>
        <p:spPr>
          <a:xfrm>
            <a:off x="1024128" y="3154680"/>
            <a:ext cx="8961120" cy="822960"/>
          </a:xfrm>
          <a:prstGeom prst="rect">
            <a:avLst/>
          </a:prstGeom>
          <a:noFill/>
        </p:spPr>
        <p:txBody>
          <a:bodyPr wrap="square" anchor="t" lIns="0" rIns="0" tIns="0" bIns="0">
            <a:spAutoFit/>
          </a:bodyPr>
          <a:lstStyle/>
          <a:p>
            <a:pPr algn="l">
              <a:lnSpc>
                <a:spcPct val="105000"/>
              </a:lnSpc>
              <a:spcAft>
                <a:spcPts val="0"/>
              </a:spcAft>
            </a:pPr>
            <a:r>
              <a:rPr sz="3300" b="1" i="0">
                <a:solidFill>
                  <a:srgbClr val="FFFFFF"/>
                </a:solidFill>
                <a:latin typeface="Montserrat"/>
              </a:rPr>
              <a:t>Institutions and instruments</a:t>
            </a:r>
          </a:p>
        </p:txBody>
      </p:sp>
      <p:sp>
        <p:nvSpPr>
          <p:cNvPr id="6" name="TextBox 5"/>
          <p:cNvSpPr txBox="1"/>
          <p:nvPr/>
        </p:nvSpPr>
        <p:spPr>
          <a:xfrm>
            <a:off x="1024128" y="4114800"/>
            <a:ext cx="7863840" cy="1005840"/>
          </a:xfrm>
          <a:prstGeom prst="rect">
            <a:avLst/>
          </a:prstGeom>
          <a:noFill/>
        </p:spPr>
        <p:txBody>
          <a:bodyPr wrap="square" anchor="t" lIns="0" rIns="0" tIns="0" bIns="0">
            <a:spAutoFit/>
          </a:bodyPr>
          <a:lstStyle/>
          <a:p>
            <a:pPr algn="l">
              <a:lnSpc>
                <a:spcPct val="140000"/>
              </a:lnSpc>
              <a:spcAft>
                <a:spcPts val="0"/>
              </a:spcAft>
            </a:pPr>
            <a:r>
              <a:rPr sz="1400" b="0" i="0">
                <a:solidFill>
                  <a:srgbClr val="D3E0DC"/>
                </a:solidFill>
                <a:latin typeface="Montserrat"/>
              </a:rPr>
              <a:t>Who provides the finance, and on what terms - grants, concessional debt, market-rate debt, equity and risk transfer.</a:t>
            </a:r>
          </a:p>
        </p:txBody>
      </p:sp>
      <p:sp>
        <p:nvSpPr>
          <p:cNvPr id="7" name="TextBox 6"/>
          <p:cNvSpPr txBox="1"/>
          <p:nvPr/>
        </p:nvSpPr>
        <p:spPr>
          <a:xfrm>
            <a:off x="8515807" y="4114800"/>
            <a:ext cx="3108960" cy="365760"/>
          </a:xfrm>
          <a:prstGeom prst="rect">
            <a:avLst/>
          </a:prstGeom>
          <a:noFill/>
        </p:spPr>
        <p:txBody>
          <a:bodyPr wrap="square" anchor="t" lIns="0" rIns="0" tIns="0" bIns="0">
            <a:spAutoFit/>
          </a:bodyPr>
          <a:lstStyle/>
          <a:p>
            <a:pPr algn="r">
              <a:lnSpc>
                <a:spcPct val="125000"/>
              </a:lnSpc>
              <a:spcAft>
                <a:spcPts val="0"/>
              </a:spcAft>
            </a:pPr>
            <a:r>
              <a:rPr sz="1000" b="1" i="0">
                <a:solidFill>
                  <a:srgbClr val="98C11F"/>
                </a:solidFill>
                <a:latin typeface="Montserrat"/>
              </a:rPr>
              <a:t>FIGURES 06–11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7498079" cy="320040"/>
          </a:xfrm>
          <a:prstGeom prst="rect">
            <a:avLst/>
          </a:prstGeom>
          <a:noFill/>
        </p:spPr>
        <p:txBody>
          <a:bodyPr wrap="square" anchor="t" lIns="0" rIns="0" tIns="0" bIns="0">
            <a:spAutoFit/>
          </a:bodyPr>
          <a:lstStyle/>
          <a:p>
            <a:pPr algn="l">
              <a:lnSpc>
                <a:spcPct val="125000"/>
              </a:lnSpc>
              <a:spcAft>
                <a:spcPts val="0"/>
              </a:spcAft>
            </a:pPr>
            <a:r>
              <a:rPr sz="900" b="1" i="0">
                <a:solidFill>
                  <a:srgbClr val="387167"/>
                </a:solidFill>
                <a:latin typeface="Montserrat"/>
              </a:rPr>
              <a:t>II · INSTITUTIONS AND INSTRUMENTS</a:t>
            </a:r>
          </a:p>
        </p:txBody>
      </p:sp>
      <p:sp>
        <p:nvSpPr>
          <p:cNvPr id="3" name="TextBox 2"/>
          <p:cNvSpPr txBox="1"/>
          <p:nvPr/>
        </p:nvSpPr>
        <p:spPr>
          <a:xfrm>
            <a:off x="566928" y="749808"/>
            <a:ext cx="10874959" cy="777240"/>
          </a:xfrm>
          <a:prstGeom prst="rect">
            <a:avLst/>
          </a:prstGeom>
          <a:noFill/>
        </p:spPr>
        <p:txBody>
          <a:bodyPr wrap="square" anchor="t" lIns="0" rIns="0" tIns="0" bIns="0">
            <a:spAutoFit/>
          </a:bodyPr>
          <a:lstStyle/>
          <a:p>
            <a:pPr algn="l">
              <a:lnSpc>
                <a:spcPct val="112000"/>
              </a:lnSpc>
              <a:spcAft>
                <a:spcPts val="0"/>
              </a:spcAft>
            </a:pPr>
            <a:r>
              <a:rPr sz="2100" b="1" i="0">
                <a:solidFill>
                  <a:srgbClr val="123B33"/>
                </a:solidFill>
                <a:latin typeface="Montserrat"/>
              </a:rPr>
              <a:t>Multilateral DFIs and bilateral governments provide four fifths of the money</a:t>
            </a:r>
          </a:p>
        </p:txBody>
      </p:sp>
      <p:sp>
        <p:nvSpPr>
          <p:cNvPr id="4" name="Rectangle 3"/>
          <p:cNvSpPr/>
          <p:nvPr/>
        </p:nvSpPr>
        <p:spPr>
          <a:xfrm>
            <a:off x="566928" y="1627632"/>
            <a:ext cx="822960" cy="32004"/>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06_institution_shares.png"/>
          <p:cNvPicPr>
            <a:picLocks noChangeAspect="1"/>
          </p:cNvPicPr>
          <p:nvPr/>
        </p:nvPicPr>
        <p:blipFill>
          <a:blip r:embed="rId2"/>
          <a:stretch>
            <a:fillRect/>
          </a:stretch>
        </p:blipFill>
        <p:spPr>
          <a:xfrm>
            <a:off x="566928" y="2537528"/>
            <a:ext cx="7452360" cy="2605902"/>
          </a:xfrm>
          <a:prstGeom prst="rect">
            <a:avLst/>
          </a:prstGeom>
        </p:spPr>
      </p:pic>
      <p:sp>
        <p:nvSpPr>
          <p:cNvPr id="6" name="TextBox 5"/>
          <p:cNvSpPr txBox="1"/>
          <p:nvPr/>
        </p:nvSpPr>
        <p:spPr>
          <a:xfrm>
            <a:off x="8385048" y="1783080"/>
            <a:ext cx="3239719" cy="274320"/>
          </a:xfrm>
          <a:prstGeom prst="rect">
            <a:avLst/>
          </a:prstGeom>
          <a:noFill/>
        </p:spPr>
        <p:txBody>
          <a:bodyPr wrap="square" anchor="t" lIns="0" rIns="0" tIns="0" bIns="0">
            <a:spAutoFit/>
          </a:bodyPr>
          <a:lstStyle/>
          <a:p>
            <a:pPr algn="l">
              <a:lnSpc>
                <a:spcPct val="125000"/>
              </a:lnSpc>
              <a:spcAft>
                <a:spcPts val="0"/>
              </a:spcAft>
            </a:pPr>
            <a:r>
              <a:rPr sz="850" b="1" i="0">
                <a:solidFill>
                  <a:srgbClr val="6B6660"/>
                </a:solidFill>
                <a:latin typeface="Montserrat"/>
              </a:rPr>
              <a:t>WHAT IT SHOWS</a:t>
            </a:r>
          </a:p>
        </p:txBody>
      </p:sp>
      <p:sp>
        <p:nvSpPr>
          <p:cNvPr id="7" name="TextBox 6"/>
          <p:cNvSpPr txBox="1"/>
          <p:nvPr/>
        </p:nvSpPr>
        <p:spPr>
          <a:xfrm>
            <a:off x="8385048" y="2148840"/>
            <a:ext cx="3239719" cy="3566160"/>
          </a:xfrm>
          <a:prstGeom prst="rect">
            <a:avLst/>
          </a:prstGeom>
          <a:noFill/>
        </p:spPr>
        <p:txBody>
          <a:bodyPr wrap="square" lIns="0" rIns="0" tIns="0" bIns="0">
            <a:spAutoFit/>
          </a:bodyPr>
          <a:lstStyle/>
          <a:p>
            <a:pPr>
              <a:lnSpc>
                <a:spcPct val="130000"/>
              </a:lnSpc>
              <a:spcAft>
                <a:spcPts val="900"/>
              </a:spcAft>
            </a:pPr>
            <a:r>
              <a:rPr sz="1150" b="1">
                <a:solidFill>
                  <a:srgbClr val="98C11F"/>
                </a:solidFill>
                <a:latin typeface="Montserrat"/>
              </a:rPr>
              <a:t>—  </a:t>
            </a:r>
            <a:r>
              <a:rPr sz="1150">
                <a:solidFill>
                  <a:srgbClr val="2B2B2B"/>
                </a:solidFill>
                <a:latin typeface="Montserrat"/>
              </a:rPr>
              <a:t>Multilateral DFIs 49% and bilateral governments 30% in 2023 - 79% between them.</a:t>
            </a:r>
          </a:p>
          <a:p>
            <a:pPr>
              <a:lnSpc>
                <a:spcPct val="130000"/>
              </a:lnSpc>
              <a:spcAft>
                <a:spcPts val="900"/>
              </a:spcAft>
            </a:pPr>
            <a:r>
              <a:rPr sz="1150" b="1">
                <a:solidFill>
                  <a:srgbClr val="98C11F"/>
                </a:solidFill>
                <a:latin typeface="Montserrat"/>
              </a:rPr>
              <a:t>—  </a:t>
            </a:r>
            <a:r>
              <a:rPr sz="1150">
                <a:solidFill>
                  <a:srgbClr val="2B2B2B"/>
                </a:solidFill>
                <a:latin typeface="Montserrat"/>
              </a:rPr>
              <a:t>Multilateral climate funds, the instruments most associated with adaptation, provide 5%.</a:t>
            </a:r>
          </a:p>
          <a:p>
            <a:pPr>
              <a:lnSpc>
                <a:spcPct val="130000"/>
              </a:lnSpc>
              <a:spcAft>
                <a:spcPts val="900"/>
              </a:spcAft>
            </a:pPr>
            <a:r>
              <a:rPr sz="1150" b="1">
                <a:solidFill>
                  <a:srgbClr val="98C11F"/>
                </a:solidFill>
                <a:latin typeface="Montserrat"/>
              </a:rPr>
              <a:t>—  </a:t>
            </a:r>
            <a:r>
              <a:rPr sz="1150">
                <a:solidFill>
                  <a:srgbClr val="2B2B2B"/>
                </a:solidFill>
                <a:latin typeface="Montserrat"/>
              </a:rPr>
              <a:t>Private and domestic finance is 3%, and barely moves across three vintages of the same accounting.</a:t>
            </a:r>
          </a:p>
          <a:p>
            <a:pPr>
              <a:lnSpc>
                <a:spcPct val="130000"/>
              </a:lnSpc>
              <a:spcAft>
                <a:spcPts val="900"/>
              </a:spcAft>
            </a:pPr>
            <a:r>
              <a:rPr sz="1150" b="1">
                <a:solidFill>
                  <a:srgbClr val="98C11F"/>
                </a:solidFill>
                <a:latin typeface="Montserrat"/>
              </a:rPr>
              <a:t>—  </a:t>
            </a:r>
            <a:r>
              <a:rPr sz="1150">
                <a:solidFill>
                  <a:srgbClr val="2B2B2B"/>
                </a:solidFill>
                <a:latin typeface="Montserrat"/>
              </a:rPr>
              <a:t>The shares are stable over 2019/20, 2017–23 and 2023, so this is structure, not noise.</a:t>
            </a:r>
          </a:p>
        </p:txBody>
      </p:sp>
      <p:sp>
        <p:nvSpPr>
          <p:cNvPr id="8" name="TextBox 7"/>
          <p:cNvSpPr txBox="1"/>
          <p:nvPr/>
        </p:nvSpPr>
        <p:spPr>
          <a:xfrm>
            <a:off x="566928" y="6053328"/>
            <a:ext cx="11057839" cy="457200"/>
          </a:xfrm>
          <a:prstGeom prst="rect">
            <a:avLst/>
          </a:prstGeom>
          <a:noFill/>
        </p:spPr>
        <p:txBody>
          <a:bodyPr wrap="square" anchor="t" lIns="0" rIns="0" tIns="0" bIns="0">
            <a:spAutoFit/>
          </a:bodyPr>
          <a:lstStyle/>
          <a:p>
            <a:pPr algn="l">
              <a:lnSpc>
                <a:spcPct val="120000"/>
              </a:lnSpc>
              <a:spcAft>
                <a:spcPts val="0"/>
              </a:spcAft>
            </a:pPr>
            <a:r>
              <a:rPr sz="800" b="0" i="0">
                <a:solidFill>
                  <a:srgbClr val="6B6660"/>
                </a:solidFill>
                <a:latin typeface="Montserrat"/>
              </a:rPr>
              <a:t>Source: GCA, State and Trends in Adaptation 2023; GCA &amp; CPI 2025</a:t>
            </a:r>
          </a:p>
        </p:txBody>
      </p:sp>
      <p:sp>
        <p:nvSpPr>
          <p:cNvPr id="9" name="Rectangle 8"/>
          <p:cNvSpPr/>
          <p:nvPr/>
        </p:nvSpPr>
        <p:spPr>
          <a:xfrm>
            <a:off x="0" y="6583680"/>
            <a:ext cx="12191695" cy="32004"/>
          </a:xfrm>
          <a:prstGeom prst="rect">
            <a:avLst/>
          </a:prstGeom>
          <a:solidFill>
            <a:srgbClr val="E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638544"/>
            <a:ext cx="6400800" cy="201168"/>
          </a:xfrm>
          <a:prstGeom prst="rect">
            <a:avLst/>
          </a:prstGeom>
          <a:noFill/>
        </p:spPr>
        <p:txBody>
          <a:bodyPr wrap="square" anchor="t" lIns="0" rIns="0" tIns="0" bIns="0">
            <a:spAutoFit/>
          </a:bodyPr>
          <a:lstStyle/>
          <a:p>
            <a:pPr algn="l">
              <a:lnSpc>
                <a:spcPct val="125000"/>
              </a:lnSpc>
              <a:spcAft>
                <a:spcPts val="0"/>
              </a:spcAft>
            </a:pPr>
            <a:r>
              <a:rPr sz="800" b="1" i="0">
                <a:solidFill>
                  <a:srgbClr val="6B6660"/>
                </a:solidFill>
                <a:latin typeface="Montserrat"/>
              </a:rPr>
              <a:t>II · INSTITUTIONS AND INSTRUMENTS</a:t>
            </a:r>
          </a:p>
        </p:txBody>
      </p:sp>
      <p:sp>
        <p:nvSpPr>
          <p:cNvPr id="11" name="TextBox 10"/>
          <p:cNvSpPr txBox="1"/>
          <p:nvPr/>
        </p:nvSpPr>
        <p:spPr>
          <a:xfrm>
            <a:off x="10527487" y="6638544"/>
            <a:ext cx="1097280" cy="201168"/>
          </a:xfrm>
          <a:prstGeom prst="rect">
            <a:avLst/>
          </a:prstGeom>
          <a:noFill/>
        </p:spPr>
        <p:txBody>
          <a:bodyPr wrap="square" anchor="t" lIns="0" rIns="0" tIns="0" bIns="0">
            <a:spAutoFit/>
          </a:bodyPr>
          <a:lstStyle/>
          <a:p>
            <a:pPr algn="r">
              <a:lnSpc>
                <a:spcPct val="125000"/>
              </a:lnSpc>
              <a:spcAft>
                <a:spcPts val="0"/>
              </a:spcAft>
            </a:pPr>
            <a:r>
              <a:rPr sz="800" b="1" i="0">
                <a:solidFill>
                  <a:srgbClr val="6B6660"/>
                </a:solidFill>
                <a:latin typeface="Montserra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7498079" cy="320040"/>
          </a:xfrm>
          <a:prstGeom prst="rect">
            <a:avLst/>
          </a:prstGeom>
          <a:noFill/>
        </p:spPr>
        <p:txBody>
          <a:bodyPr wrap="square" anchor="t" lIns="0" rIns="0" tIns="0" bIns="0">
            <a:spAutoFit/>
          </a:bodyPr>
          <a:lstStyle/>
          <a:p>
            <a:pPr algn="l">
              <a:lnSpc>
                <a:spcPct val="125000"/>
              </a:lnSpc>
              <a:spcAft>
                <a:spcPts val="0"/>
              </a:spcAft>
            </a:pPr>
            <a:r>
              <a:rPr sz="900" b="1" i="0">
                <a:solidFill>
                  <a:srgbClr val="387167"/>
                </a:solidFill>
                <a:latin typeface="Montserrat"/>
              </a:rPr>
              <a:t>II · INSTITUTIONS AND INSTRUMENTS</a:t>
            </a:r>
          </a:p>
        </p:txBody>
      </p:sp>
      <p:sp>
        <p:nvSpPr>
          <p:cNvPr id="3" name="TextBox 2"/>
          <p:cNvSpPr txBox="1"/>
          <p:nvPr/>
        </p:nvSpPr>
        <p:spPr>
          <a:xfrm>
            <a:off x="566928" y="749808"/>
            <a:ext cx="10874959" cy="777240"/>
          </a:xfrm>
          <a:prstGeom prst="rect">
            <a:avLst/>
          </a:prstGeom>
          <a:noFill/>
        </p:spPr>
        <p:txBody>
          <a:bodyPr wrap="square" anchor="t" lIns="0" rIns="0" tIns="0" bIns="0">
            <a:spAutoFit/>
          </a:bodyPr>
          <a:lstStyle/>
          <a:p>
            <a:pPr algn="l">
              <a:lnSpc>
                <a:spcPct val="112000"/>
              </a:lnSpc>
              <a:spcAft>
                <a:spcPts val="0"/>
              </a:spcAft>
            </a:pPr>
            <a:r>
              <a:rPr sz="2100" b="1" i="0">
                <a:solidFill>
                  <a:srgbClr val="123B33"/>
                </a:solidFill>
                <a:latin typeface="Montserrat"/>
              </a:rPr>
              <a:t>Grants still carry the mix, but market-rate debt went from nothing to a quarter in six years</a:t>
            </a:r>
          </a:p>
        </p:txBody>
      </p:sp>
      <p:sp>
        <p:nvSpPr>
          <p:cNvPr id="4" name="Rectangle 3"/>
          <p:cNvSpPr/>
          <p:nvPr/>
        </p:nvSpPr>
        <p:spPr>
          <a:xfrm>
            <a:off x="566928" y="1627632"/>
            <a:ext cx="822960" cy="32004"/>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08_instrument_mix.png"/>
          <p:cNvPicPr>
            <a:picLocks noChangeAspect="1"/>
          </p:cNvPicPr>
          <p:nvPr/>
        </p:nvPicPr>
        <p:blipFill>
          <a:blip r:embed="rId2"/>
          <a:stretch>
            <a:fillRect/>
          </a:stretch>
        </p:blipFill>
        <p:spPr>
          <a:xfrm>
            <a:off x="566928" y="2539467"/>
            <a:ext cx="7452360" cy="2602024"/>
          </a:xfrm>
          <a:prstGeom prst="rect">
            <a:avLst/>
          </a:prstGeom>
        </p:spPr>
      </p:pic>
      <p:sp>
        <p:nvSpPr>
          <p:cNvPr id="6" name="TextBox 5"/>
          <p:cNvSpPr txBox="1"/>
          <p:nvPr/>
        </p:nvSpPr>
        <p:spPr>
          <a:xfrm>
            <a:off x="8385048" y="1783080"/>
            <a:ext cx="3239719" cy="274320"/>
          </a:xfrm>
          <a:prstGeom prst="rect">
            <a:avLst/>
          </a:prstGeom>
          <a:noFill/>
        </p:spPr>
        <p:txBody>
          <a:bodyPr wrap="square" anchor="t" lIns="0" rIns="0" tIns="0" bIns="0">
            <a:spAutoFit/>
          </a:bodyPr>
          <a:lstStyle/>
          <a:p>
            <a:pPr algn="l">
              <a:lnSpc>
                <a:spcPct val="125000"/>
              </a:lnSpc>
              <a:spcAft>
                <a:spcPts val="0"/>
              </a:spcAft>
            </a:pPr>
            <a:r>
              <a:rPr sz="850" b="1" i="0">
                <a:solidFill>
                  <a:srgbClr val="6B6660"/>
                </a:solidFill>
                <a:latin typeface="Montserrat"/>
              </a:rPr>
              <a:t>WHAT IT SHOWS</a:t>
            </a:r>
          </a:p>
        </p:txBody>
      </p:sp>
      <p:sp>
        <p:nvSpPr>
          <p:cNvPr id="7" name="TextBox 6"/>
          <p:cNvSpPr txBox="1"/>
          <p:nvPr/>
        </p:nvSpPr>
        <p:spPr>
          <a:xfrm>
            <a:off x="8385048" y="2148840"/>
            <a:ext cx="3239719" cy="3566160"/>
          </a:xfrm>
          <a:prstGeom prst="rect">
            <a:avLst/>
          </a:prstGeom>
          <a:noFill/>
        </p:spPr>
        <p:txBody>
          <a:bodyPr wrap="square" lIns="0" rIns="0" tIns="0" bIns="0">
            <a:spAutoFit/>
          </a:bodyPr>
          <a:lstStyle/>
          <a:p>
            <a:pPr>
              <a:lnSpc>
                <a:spcPct val="130000"/>
              </a:lnSpc>
              <a:spcAft>
                <a:spcPts val="900"/>
              </a:spcAft>
            </a:pPr>
            <a:r>
              <a:rPr sz="1150" b="1">
                <a:solidFill>
                  <a:srgbClr val="98C11F"/>
                </a:solidFill>
                <a:latin typeface="Montserrat"/>
              </a:rPr>
              <a:t>—  </a:t>
            </a:r>
            <a:r>
              <a:rPr sz="1150">
                <a:solidFill>
                  <a:srgbClr val="2B2B2B"/>
                </a:solidFill>
                <a:latin typeface="Montserrat"/>
              </a:rPr>
              <a:t>Grants are USD 7.3bn of the USD 14.8bn tracked in 2023 - just under half.</a:t>
            </a:r>
          </a:p>
          <a:p>
            <a:pPr>
              <a:lnSpc>
                <a:spcPct val="130000"/>
              </a:lnSpc>
              <a:spcAft>
                <a:spcPts val="900"/>
              </a:spcAft>
            </a:pPr>
            <a:r>
              <a:rPr sz="1150" b="1">
                <a:solidFill>
                  <a:srgbClr val="98C11F"/>
                </a:solidFill>
                <a:latin typeface="Montserrat"/>
              </a:rPr>
              <a:t>—  </a:t>
            </a:r>
            <a:r>
              <a:rPr sz="1150">
                <a:solidFill>
                  <a:srgbClr val="2B2B2B"/>
                </a:solidFill>
                <a:latin typeface="Montserrat"/>
              </a:rPr>
              <a:t>Market-rate debt was zero in 2017 and 2018; it is USD 4.0bn by 2023.</a:t>
            </a:r>
          </a:p>
          <a:p>
            <a:pPr>
              <a:lnSpc>
                <a:spcPct val="130000"/>
              </a:lnSpc>
              <a:spcAft>
                <a:spcPts val="900"/>
              </a:spcAft>
            </a:pPr>
            <a:r>
              <a:rPr sz="1150" b="1">
                <a:solidFill>
                  <a:srgbClr val="98C11F"/>
                </a:solidFill>
                <a:latin typeface="Montserrat"/>
              </a:rPr>
              <a:t>—  </a:t>
            </a:r>
            <a:r>
              <a:rPr sz="1150">
                <a:solidFill>
                  <a:srgbClr val="2B2B2B"/>
                </a:solidFill>
                <a:latin typeface="Montserrat"/>
              </a:rPr>
              <a:t>Concessional debt grew steadily to USD 3.2bn.</a:t>
            </a:r>
          </a:p>
          <a:p>
            <a:pPr>
              <a:lnSpc>
                <a:spcPct val="130000"/>
              </a:lnSpc>
              <a:spcAft>
                <a:spcPts val="900"/>
              </a:spcAft>
            </a:pPr>
            <a:r>
              <a:rPr sz="1150" b="1">
                <a:solidFill>
                  <a:srgbClr val="98C11F"/>
                </a:solidFill>
                <a:latin typeface="Montserrat"/>
              </a:rPr>
              <a:t>—  </a:t>
            </a:r>
            <a:r>
              <a:rPr sz="1150">
                <a:solidFill>
                  <a:srgbClr val="2B2B2B"/>
                </a:solidFill>
                <a:latin typeface="Montserrat"/>
              </a:rPr>
              <a:t>Equity is negligible throughout, so risk capital is not arriving.</a:t>
            </a:r>
          </a:p>
        </p:txBody>
      </p:sp>
      <p:sp>
        <p:nvSpPr>
          <p:cNvPr id="8" name="TextBox 7"/>
          <p:cNvSpPr txBox="1"/>
          <p:nvPr/>
        </p:nvSpPr>
        <p:spPr>
          <a:xfrm>
            <a:off x="566928" y="6053328"/>
            <a:ext cx="11057839" cy="457200"/>
          </a:xfrm>
          <a:prstGeom prst="rect">
            <a:avLst/>
          </a:prstGeom>
          <a:noFill/>
        </p:spPr>
        <p:txBody>
          <a:bodyPr wrap="square" anchor="t" lIns="0" rIns="0" tIns="0" bIns="0">
            <a:spAutoFit/>
          </a:bodyPr>
          <a:lstStyle/>
          <a:p>
            <a:pPr algn="l">
              <a:lnSpc>
                <a:spcPct val="120000"/>
              </a:lnSpc>
              <a:spcAft>
                <a:spcPts val="0"/>
              </a:spcAft>
            </a:pPr>
            <a:r>
              <a:rPr sz="800" b="0" i="0">
                <a:solidFill>
                  <a:srgbClr val="6B6660"/>
                </a:solidFill>
                <a:latin typeface="Montserrat"/>
              </a:rPr>
              <a:t>Source: GCA &amp; CPI 2025, Figure 4</a:t>
            </a:r>
          </a:p>
        </p:txBody>
      </p:sp>
      <p:sp>
        <p:nvSpPr>
          <p:cNvPr id="9" name="Rectangle 8"/>
          <p:cNvSpPr/>
          <p:nvPr/>
        </p:nvSpPr>
        <p:spPr>
          <a:xfrm>
            <a:off x="0" y="6583680"/>
            <a:ext cx="12191695" cy="32004"/>
          </a:xfrm>
          <a:prstGeom prst="rect">
            <a:avLst/>
          </a:prstGeom>
          <a:solidFill>
            <a:srgbClr val="E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638544"/>
            <a:ext cx="6400800" cy="201168"/>
          </a:xfrm>
          <a:prstGeom prst="rect">
            <a:avLst/>
          </a:prstGeom>
          <a:noFill/>
        </p:spPr>
        <p:txBody>
          <a:bodyPr wrap="square" anchor="t" lIns="0" rIns="0" tIns="0" bIns="0">
            <a:spAutoFit/>
          </a:bodyPr>
          <a:lstStyle/>
          <a:p>
            <a:pPr algn="l">
              <a:lnSpc>
                <a:spcPct val="125000"/>
              </a:lnSpc>
              <a:spcAft>
                <a:spcPts val="0"/>
              </a:spcAft>
            </a:pPr>
            <a:r>
              <a:rPr sz="800" b="1" i="0">
                <a:solidFill>
                  <a:srgbClr val="6B6660"/>
                </a:solidFill>
                <a:latin typeface="Montserrat"/>
              </a:rPr>
              <a:t>II · INSTITUTIONS AND INSTRUMENTS</a:t>
            </a:r>
          </a:p>
        </p:txBody>
      </p:sp>
      <p:sp>
        <p:nvSpPr>
          <p:cNvPr id="11" name="TextBox 10"/>
          <p:cNvSpPr txBox="1"/>
          <p:nvPr/>
        </p:nvSpPr>
        <p:spPr>
          <a:xfrm>
            <a:off x="10527487" y="6638544"/>
            <a:ext cx="1097280" cy="201168"/>
          </a:xfrm>
          <a:prstGeom prst="rect">
            <a:avLst/>
          </a:prstGeom>
          <a:noFill/>
        </p:spPr>
        <p:txBody>
          <a:bodyPr wrap="square" anchor="t" lIns="0" rIns="0" tIns="0" bIns="0">
            <a:spAutoFit/>
          </a:bodyPr>
          <a:lstStyle/>
          <a:p>
            <a:pPr algn="r">
              <a:lnSpc>
                <a:spcPct val="125000"/>
              </a:lnSpc>
              <a:spcAft>
                <a:spcPts val="0"/>
              </a:spcAft>
            </a:pPr>
            <a:r>
              <a:rPr sz="800" b="1" i="0">
                <a:solidFill>
                  <a:srgbClr val="6B6660"/>
                </a:solidFill>
                <a:latin typeface="Montserra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7498079" cy="320040"/>
          </a:xfrm>
          <a:prstGeom prst="rect">
            <a:avLst/>
          </a:prstGeom>
          <a:noFill/>
        </p:spPr>
        <p:txBody>
          <a:bodyPr wrap="square" anchor="t" lIns="0" rIns="0" tIns="0" bIns="0">
            <a:spAutoFit/>
          </a:bodyPr>
          <a:lstStyle/>
          <a:p>
            <a:pPr algn="l">
              <a:lnSpc>
                <a:spcPct val="125000"/>
              </a:lnSpc>
              <a:spcAft>
                <a:spcPts val="0"/>
              </a:spcAft>
            </a:pPr>
            <a:r>
              <a:rPr sz="900" b="1" i="0">
                <a:solidFill>
                  <a:srgbClr val="387167"/>
                </a:solidFill>
                <a:latin typeface="Montserrat"/>
              </a:rPr>
              <a:t>II · INSTITUTIONS AND INSTRUMENTS</a:t>
            </a:r>
          </a:p>
        </p:txBody>
      </p:sp>
      <p:sp>
        <p:nvSpPr>
          <p:cNvPr id="3" name="TextBox 2"/>
          <p:cNvSpPr txBox="1"/>
          <p:nvPr/>
        </p:nvSpPr>
        <p:spPr>
          <a:xfrm>
            <a:off x="566928" y="749808"/>
            <a:ext cx="10874959" cy="777240"/>
          </a:xfrm>
          <a:prstGeom prst="rect">
            <a:avLst/>
          </a:prstGeom>
          <a:noFill/>
        </p:spPr>
        <p:txBody>
          <a:bodyPr wrap="square" anchor="t" lIns="0" rIns="0" tIns="0" bIns="0">
            <a:spAutoFit/>
          </a:bodyPr>
          <a:lstStyle/>
          <a:p>
            <a:pPr algn="l">
              <a:lnSpc>
                <a:spcPct val="112000"/>
              </a:lnSpc>
              <a:spcAft>
                <a:spcPts val="0"/>
              </a:spcAft>
            </a:pPr>
            <a:r>
              <a:rPr sz="2100" b="1" i="0">
                <a:solidFill>
                  <a:srgbClr val="123B33"/>
                </a:solidFill>
                <a:latin typeface="Montserrat"/>
              </a:rPr>
              <a:t>Africa keeps a high grant share, and still carries the highest debt share of any region</a:t>
            </a:r>
          </a:p>
        </p:txBody>
      </p:sp>
      <p:sp>
        <p:nvSpPr>
          <p:cNvPr id="4" name="Rectangle 3"/>
          <p:cNvSpPr/>
          <p:nvPr/>
        </p:nvSpPr>
        <p:spPr>
          <a:xfrm>
            <a:off x="566928" y="1627632"/>
            <a:ext cx="822960" cy="32004"/>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09_grant_share_debt_share.png"/>
          <p:cNvPicPr>
            <a:picLocks noChangeAspect="1"/>
          </p:cNvPicPr>
          <p:nvPr/>
        </p:nvPicPr>
        <p:blipFill>
          <a:blip r:embed="rId2"/>
          <a:stretch>
            <a:fillRect/>
          </a:stretch>
        </p:blipFill>
        <p:spPr>
          <a:xfrm>
            <a:off x="566928" y="2959311"/>
            <a:ext cx="7452360" cy="1762336"/>
          </a:xfrm>
          <a:prstGeom prst="rect">
            <a:avLst/>
          </a:prstGeom>
        </p:spPr>
      </p:pic>
      <p:sp>
        <p:nvSpPr>
          <p:cNvPr id="6" name="TextBox 5"/>
          <p:cNvSpPr txBox="1"/>
          <p:nvPr/>
        </p:nvSpPr>
        <p:spPr>
          <a:xfrm>
            <a:off x="8385048" y="1783080"/>
            <a:ext cx="3239719" cy="274320"/>
          </a:xfrm>
          <a:prstGeom prst="rect">
            <a:avLst/>
          </a:prstGeom>
          <a:noFill/>
        </p:spPr>
        <p:txBody>
          <a:bodyPr wrap="square" anchor="t" lIns="0" rIns="0" tIns="0" bIns="0">
            <a:spAutoFit/>
          </a:bodyPr>
          <a:lstStyle/>
          <a:p>
            <a:pPr algn="l">
              <a:lnSpc>
                <a:spcPct val="125000"/>
              </a:lnSpc>
              <a:spcAft>
                <a:spcPts val="0"/>
              </a:spcAft>
            </a:pPr>
            <a:r>
              <a:rPr sz="850" b="1" i="0">
                <a:solidFill>
                  <a:srgbClr val="6B6660"/>
                </a:solidFill>
                <a:latin typeface="Montserrat"/>
              </a:rPr>
              <a:t>WHAT IT SHOWS</a:t>
            </a:r>
          </a:p>
        </p:txBody>
      </p:sp>
      <p:sp>
        <p:nvSpPr>
          <p:cNvPr id="7" name="TextBox 6"/>
          <p:cNvSpPr txBox="1"/>
          <p:nvPr/>
        </p:nvSpPr>
        <p:spPr>
          <a:xfrm>
            <a:off x="8385048" y="2148840"/>
            <a:ext cx="3239719" cy="3566160"/>
          </a:xfrm>
          <a:prstGeom prst="rect">
            <a:avLst/>
          </a:prstGeom>
          <a:noFill/>
        </p:spPr>
        <p:txBody>
          <a:bodyPr wrap="square" lIns="0" rIns="0" tIns="0" bIns="0">
            <a:spAutoFit/>
          </a:bodyPr>
          <a:lstStyle/>
          <a:p>
            <a:pPr>
              <a:lnSpc>
                <a:spcPct val="130000"/>
              </a:lnSpc>
              <a:spcAft>
                <a:spcPts val="900"/>
              </a:spcAft>
            </a:pPr>
            <a:r>
              <a:rPr sz="1150" b="1">
                <a:solidFill>
                  <a:srgbClr val="98C11F"/>
                </a:solidFill>
                <a:latin typeface="Montserrat"/>
              </a:rPr>
              <a:t>—  </a:t>
            </a:r>
            <a:r>
              <a:rPr sz="1150">
                <a:solidFill>
                  <a:srgbClr val="2B2B2B"/>
                </a:solidFill>
                <a:latin typeface="Montserrat"/>
              </a:rPr>
              <a:t>Africa’s adaptation grant share held at about 48–49% between 2019 and 2023.</a:t>
            </a:r>
          </a:p>
          <a:p>
            <a:pPr>
              <a:lnSpc>
                <a:spcPct val="130000"/>
              </a:lnSpc>
              <a:spcAft>
                <a:spcPts val="900"/>
              </a:spcAft>
            </a:pPr>
            <a:r>
              <a:rPr sz="1150" b="1">
                <a:solidFill>
                  <a:srgbClr val="98C11F"/>
                </a:solidFill>
                <a:latin typeface="Montserrat"/>
              </a:rPr>
              <a:t>—  </a:t>
            </a:r>
            <a:r>
              <a:rPr sz="1150">
                <a:solidFill>
                  <a:srgbClr val="2B2B2B"/>
                </a:solidFill>
                <a:latin typeface="Montserrat"/>
              </a:rPr>
              <a:t>African LDCs went the other way: 69% down to 61%.</a:t>
            </a:r>
          </a:p>
          <a:p>
            <a:pPr>
              <a:lnSpc>
                <a:spcPct val="130000"/>
              </a:lnSpc>
              <a:spcAft>
                <a:spcPts val="900"/>
              </a:spcAft>
            </a:pPr>
            <a:r>
              <a:rPr sz="1150" b="1">
                <a:solidFill>
                  <a:srgbClr val="98C11F"/>
                </a:solidFill>
                <a:latin typeface="Montserrat"/>
              </a:rPr>
              <a:t>—  </a:t>
            </a:r>
            <a:r>
              <a:rPr sz="1150">
                <a:solidFill>
                  <a:srgbClr val="2B2B2B"/>
                </a:solidFill>
                <a:latin typeface="Montserrat"/>
              </a:rPr>
              <a:t>Yet debt is 51% of all climate finance to Africa, against 20% for Latin America and 18% for East Asia.</a:t>
            </a:r>
          </a:p>
          <a:p>
            <a:pPr>
              <a:lnSpc>
                <a:spcPct val="130000"/>
              </a:lnSpc>
              <a:spcAft>
                <a:spcPts val="900"/>
              </a:spcAft>
            </a:pPr>
            <a:r>
              <a:rPr sz="1150" b="1">
                <a:solidFill>
                  <a:srgbClr val="98C11F"/>
                </a:solidFill>
                <a:latin typeface="Montserrat"/>
              </a:rPr>
              <a:t>—  </a:t>
            </a:r>
            <a:r>
              <a:rPr sz="1150">
                <a:solidFill>
                  <a:srgbClr val="2B2B2B"/>
                </a:solidFill>
                <a:latin typeface="Montserrat"/>
              </a:rPr>
              <a:t>A high grant share within adaptation does not offset a debt-heavy whole.</a:t>
            </a:r>
          </a:p>
        </p:txBody>
      </p:sp>
      <p:sp>
        <p:nvSpPr>
          <p:cNvPr id="8" name="TextBox 7"/>
          <p:cNvSpPr txBox="1"/>
          <p:nvPr/>
        </p:nvSpPr>
        <p:spPr>
          <a:xfrm>
            <a:off x="566928" y="6053328"/>
            <a:ext cx="11057839" cy="457200"/>
          </a:xfrm>
          <a:prstGeom prst="rect">
            <a:avLst/>
          </a:prstGeom>
          <a:noFill/>
        </p:spPr>
        <p:txBody>
          <a:bodyPr wrap="square" anchor="t" lIns="0" rIns="0" tIns="0" bIns="0">
            <a:spAutoFit/>
          </a:bodyPr>
          <a:lstStyle/>
          <a:p>
            <a:pPr algn="l">
              <a:lnSpc>
                <a:spcPct val="120000"/>
              </a:lnSpc>
              <a:spcAft>
                <a:spcPts val="0"/>
              </a:spcAft>
            </a:pPr>
            <a:r>
              <a:rPr sz="800" b="0" i="0">
                <a:solidFill>
                  <a:srgbClr val="6B6660"/>
                </a:solidFill>
                <a:latin typeface="Montserrat"/>
              </a:rPr>
              <a:t>Source: CPI Landscape of Climate Finance in Africa 2024; GCA &amp; CPI 2025; OECD 2026</a:t>
            </a:r>
          </a:p>
        </p:txBody>
      </p:sp>
      <p:sp>
        <p:nvSpPr>
          <p:cNvPr id="9" name="Rectangle 8"/>
          <p:cNvSpPr/>
          <p:nvPr/>
        </p:nvSpPr>
        <p:spPr>
          <a:xfrm>
            <a:off x="0" y="6583680"/>
            <a:ext cx="12191695" cy="32004"/>
          </a:xfrm>
          <a:prstGeom prst="rect">
            <a:avLst/>
          </a:prstGeom>
          <a:solidFill>
            <a:srgbClr val="E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638544"/>
            <a:ext cx="6400800" cy="201168"/>
          </a:xfrm>
          <a:prstGeom prst="rect">
            <a:avLst/>
          </a:prstGeom>
          <a:noFill/>
        </p:spPr>
        <p:txBody>
          <a:bodyPr wrap="square" anchor="t" lIns="0" rIns="0" tIns="0" bIns="0">
            <a:spAutoFit/>
          </a:bodyPr>
          <a:lstStyle/>
          <a:p>
            <a:pPr algn="l">
              <a:lnSpc>
                <a:spcPct val="125000"/>
              </a:lnSpc>
              <a:spcAft>
                <a:spcPts val="0"/>
              </a:spcAft>
            </a:pPr>
            <a:r>
              <a:rPr sz="800" b="1" i="0">
                <a:solidFill>
                  <a:srgbClr val="6B6660"/>
                </a:solidFill>
                <a:latin typeface="Montserrat"/>
              </a:rPr>
              <a:t>II · INSTITUTIONS AND INSTRUMENTS</a:t>
            </a:r>
          </a:p>
        </p:txBody>
      </p:sp>
      <p:sp>
        <p:nvSpPr>
          <p:cNvPr id="11" name="TextBox 10"/>
          <p:cNvSpPr txBox="1"/>
          <p:nvPr/>
        </p:nvSpPr>
        <p:spPr>
          <a:xfrm>
            <a:off x="10527487" y="6638544"/>
            <a:ext cx="1097280" cy="201168"/>
          </a:xfrm>
          <a:prstGeom prst="rect">
            <a:avLst/>
          </a:prstGeom>
          <a:noFill/>
        </p:spPr>
        <p:txBody>
          <a:bodyPr wrap="square" anchor="t" lIns="0" rIns="0" tIns="0" bIns="0">
            <a:spAutoFit/>
          </a:bodyPr>
          <a:lstStyle/>
          <a:p>
            <a:pPr algn="r">
              <a:lnSpc>
                <a:spcPct val="125000"/>
              </a:lnSpc>
              <a:spcAft>
                <a:spcPts val="0"/>
              </a:spcAft>
            </a:pPr>
            <a:r>
              <a:rPr sz="800" b="1" i="0">
                <a:solidFill>
                  <a:srgbClr val="6B6660"/>
                </a:solidFill>
                <a:latin typeface="Montserra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87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2286000"/>
            <a:ext cx="1828800" cy="822960"/>
          </a:xfrm>
          <a:prstGeom prst="rect">
            <a:avLst/>
          </a:prstGeom>
          <a:noFill/>
        </p:spPr>
        <p:txBody>
          <a:bodyPr wrap="square" anchor="t" lIns="0" rIns="0" tIns="0" bIns="0">
            <a:spAutoFit/>
          </a:bodyPr>
          <a:lstStyle/>
          <a:p>
            <a:pPr algn="l">
              <a:lnSpc>
                <a:spcPct val="100000"/>
              </a:lnSpc>
              <a:spcAft>
                <a:spcPts val="0"/>
              </a:spcAft>
            </a:pPr>
            <a:r>
              <a:rPr sz="5200" b="1" i="0">
                <a:solidFill>
                  <a:srgbClr val="98C11F"/>
                </a:solidFill>
                <a:latin typeface="Montserrat"/>
              </a:rPr>
              <a:t>III</a:t>
            </a:r>
          </a:p>
        </p:txBody>
      </p:sp>
      <p:sp>
        <p:nvSpPr>
          <p:cNvPr id="5" name="TextBox 4"/>
          <p:cNvSpPr txBox="1"/>
          <p:nvPr/>
        </p:nvSpPr>
        <p:spPr>
          <a:xfrm>
            <a:off x="1024128" y="3154680"/>
            <a:ext cx="8961120" cy="822960"/>
          </a:xfrm>
          <a:prstGeom prst="rect">
            <a:avLst/>
          </a:prstGeom>
          <a:noFill/>
        </p:spPr>
        <p:txBody>
          <a:bodyPr wrap="square" anchor="t" lIns="0" rIns="0" tIns="0" bIns="0">
            <a:spAutoFit/>
          </a:bodyPr>
          <a:lstStyle/>
          <a:p>
            <a:pPr algn="l">
              <a:lnSpc>
                <a:spcPct val="105000"/>
              </a:lnSpc>
              <a:spcAft>
                <a:spcPts val="0"/>
              </a:spcAft>
            </a:pPr>
            <a:r>
              <a:rPr sz="3300" b="1" i="0">
                <a:solidFill>
                  <a:srgbClr val="FFFFFF"/>
                </a:solidFill>
                <a:latin typeface="Montserrat"/>
              </a:rPr>
              <a:t>Sectors and delivery</a:t>
            </a:r>
          </a:p>
        </p:txBody>
      </p:sp>
      <p:sp>
        <p:nvSpPr>
          <p:cNvPr id="6" name="TextBox 5"/>
          <p:cNvSpPr txBox="1"/>
          <p:nvPr/>
        </p:nvSpPr>
        <p:spPr>
          <a:xfrm>
            <a:off x="1024128" y="4114800"/>
            <a:ext cx="7863840" cy="1005840"/>
          </a:xfrm>
          <a:prstGeom prst="rect">
            <a:avLst/>
          </a:prstGeom>
          <a:noFill/>
        </p:spPr>
        <p:txBody>
          <a:bodyPr wrap="square" anchor="t" lIns="0" rIns="0" tIns="0" bIns="0">
            <a:spAutoFit/>
          </a:bodyPr>
          <a:lstStyle/>
          <a:p>
            <a:pPr algn="l">
              <a:lnSpc>
                <a:spcPct val="140000"/>
              </a:lnSpc>
              <a:spcAft>
                <a:spcPts val="0"/>
              </a:spcAft>
            </a:pPr>
            <a:r>
              <a:rPr sz="1400" b="0" i="0">
                <a:solidFill>
                  <a:srgbClr val="D3E0DC"/>
                </a:solidFill>
                <a:latin typeface="Montserrat"/>
              </a:rPr>
              <a:t>Where the money lands by sector, project size and pipeline stage, and how much survives the journey from readiness to implementation.</a:t>
            </a:r>
          </a:p>
        </p:txBody>
      </p:sp>
      <p:sp>
        <p:nvSpPr>
          <p:cNvPr id="7" name="TextBox 6"/>
          <p:cNvSpPr txBox="1"/>
          <p:nvPr/>
        </p:nvSpPr>
        <p:spPr>
          <a:xfrm>
            <a:off x="8515807" y="4114800"/>
            <a:ext cx="3108960" cy="365760"/>
          </a:xfrm>
          <a:prstGeom prst="rect">
            <a:avLst/>
          </a:prstGeom>
          <a:noFill/>
        </p:spPr>
        <p:txBody>
          <a:bodyPr wrap="square" anchor="t" lIns="0" rIns="0" tIns="0" bIns="0">
            <a:spAutoFit/>
          </a:bodyPr>
          <a:lstStyle/>
          <a:p>
            <a:pPr algn="r">
              <a:lnSpc>
                <a:spcPct val="125000"/>
              </a:lnSpc>
              <a:spcAft>
                <a:spcPts val="0"/>
              </a:spcAft>
            </a:pPr>
            <a:r>
              <a:rPr sz="1000" b="1" i="0">
                <a:solidFill>
                  <a:srgbClr val="98C11F"/>
                </a:solidFill>
                <a:latin typeface="Montserrat"/>
              </a:rPr>
              <a:t>FIGURES 12–21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7498079" cy="320040"/>
          </a:xfrm>
          <a:prstGeom prst="rect">
            <a:avLst/>
          </a:prstGeom>
          <a:noFill/>
        </p:spPr>
        <p:txBody>
          <a:bodyPr wrap="square" anchor="t" lIns="0" rIns="0" tIns="0" bIns="0">
            <a:spAutoFit/>
          </a:bodyPr>
          <a:lstStyle/>
          <a:p>
            <a:pPr algn="l">
              <a:lnSpc>
                <a:spcPct val="125000"/>
              </a:lnSpc>
              <a:spcAft>
                <a:spcPts val="0"/>
              </a:spcAft>
            </a:pPr>
            <a:r>
              <a:rPr sz="900" b="1" i="0">
                <a:solidFill>
                  <a:srgbClr val="387167"/>
                </a:solidFill>
                <a:latin typeface="Montserrat"/>
              </a:rPr>
              <a:t>III · SECTORS AND DELIVERY</a:t>
            </a:r>
          </a:p>
        </p:txBody>
      </p:sp>
      <p:sp>
        <p:nvSpPr>
          <p:cNvPr id="3" name="TextBox 2"/>
          <p:cNvSpPr txBox="1"/>
          <p:nvPr/>
        </p:nvSpPr>
        <p:spPr>
          <a:xfrm>
            <a:off x="566928" y="749808"/>
            <a:ext cx="10874959" cy="777240"/>
          </a:xfrm>
          <a:prstGeom prst="rect">
            <a:avLst/>
          </a:prstGeom>
          <a:noFill/>
        </p:spPr>
        <p:txBody>
          <a:bodyPr wrap="square" anchor="t" lIns="0" rIns="0" tIns="0" bIns="0">
            <a:spAutoFit/>
          </a:bodyPr>
          <a:lstStyle/>
          <a:p>
            <a:pPr algn="l">
              <a:lnSpc>
                <a:spcPct val="112000"/>
              </a:lnSpc>
              <a:spcAft>
                <a:spcPts val="0"/>
              </a:spcAft>
            </a:pPr>
            <a:r>
              <a:rPr sz="2100" b="1" i="0">
                <a:solidFill>
                  <a:srgbClr val="123B33"/>
                </a:solidFill>
                <a:latin typeface="Montserrat"/>
              </a:rPr>
              <a:t>A quarter goes to agriculture, a fifth to policy and budget support, and another fifth is unspecified</a:t>
            </a:r>
          </a:p>
        </p:txBody>
      </p:sp>
      <p:sp>
        <p:nvSpPr>
          <p:cNvPr id="4" name="Rectangle 3"/>
          <p:cNvSpPr/>
          <p:nvPr/>
        </p:nvSpPr>
        <p:spPr>
          <a:xfrm>
            <a:off x="566928" y="1627632"/>
            <a:ext cx="822960" cy="32004"/>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12_sector_treemap.png"/>
          <p:cNvPicPr>
            <a:picLocks noChangeAspect="1"/>
          </p:cNvPicPr>
          <p:nvPr/>
        </p:nvPicPr>
        <p:blipFill>
          <a:blip r:embed="rId2"/>
          <a:stretch>
            <a:fillRect/>
          </a:stretch>
        </p:blipFill>
        <p:spPr>
          <a:xfrm>
            <a:off x="566928" y="2182031"/>
            <a:ext cx="7452360" cy="3316897"/>
          </a:xfrm>
          <a:prstGeom prst="rect">
            <a:avLst/>
          </a:prstGeom>
        </p:spPr>
      </p:pic>
      <p:sp>
        <p:nvSpPr>
          <p:cNvPr id="6" name="TextBox 5"/>
          <p:cNvSpPr txBox="1"/>
          <p:nvPr/>
        </p:nvSpPr>
        <p:spPr>
          <a:xfrm>
            <a:off x="8385048" y="1783080"/>
            <a:ext cx="3239719" cy="274320"/>
          </a:xfrm>
          <a:prstGeom prst="rect">
            <a:avLst/>
          </a:prstGeom>
          <a:noFill/>
        </p:spPr>
        <p:txBody>
          <a:bodyPr wrap="square" anchor="t" lIns="0" rIns="0" tIns="0" bIns="0">
            <a:spAutoFit/>
          </a:bodyPr>
          <a:lstStyle/>
          <a:p>
            <a:pPr algn="l">
              <a:lnSpc>
                <a:spcPct val="125000"/>
              </a:lnSpc>
              <a:spcAft>
                <a:spcPts val="0"/>
              </a:spcAft>
            </a:pPr>
            <a:r>
              <a:rPr sz="850" b="1" i="0">
                <a:solidFill>
                  <a:srgbClr val="6B6660"/>
                </a:solidFill>
                <a:latin typeface="Montserrat"/>
              </a:rPr>
              <a:t>WHAT IT SHOWS</a:t>
            </a:r>
          </a:p>
        </p:txBody>
      </p:sp>
      <p:sp>
        <p:nvSpPr>
          <p:cNvPr id="7" name="TextBox 6"/>
          <p:cNvSpPr txBox="1"/>
          <p:nvPr/>
        </p:nvSpPr>
        <p:spPr>
          <a:xfrm>
            <a:off x="8385048" y="2148840"/>
            <a:ext cx="3239719" cy="3566160"/>
          </a:xfrm>
          <a:prstGeom prst="rect">
            <a:avLst/>
          </a:prstGeom>
          <a:noFill/>
        </p:spPr>
        <p:txBody>
          <a:bodyPr wrap="square" lIns="0" rIns="0" tIns="0" bIns="0">
            <a:spAutoFit/>
          </a:bodyPr>
          <a:lstStyle/>
          <a:p>
            <a:pPr>
              <a:lnSpc>
                <a:spcPct val="130000"/>
              </a:lnSpc>
              <a:spcAft>
                <a:spcPts val="900"/>
              </a:spcAft>
            </a:pPr>
            <a:r>
              <a:rPr sz="1150" b="1">
                <a:solidFill>
                  <a:srgbClr val="98C11F"/>
                </a:solidFill>
                <a:latin typeface="Montserrat"/>
              </a:rPr>
              <a:t>—  </a:t>
            </a:r>
            <a:r>
              <a:rPr sz="1150">
                <a:solidFill>
                  <a:srgbClr val="2B2B2B"/>
                </a:solidFill>
                <a:latin typeface="Montserrat"/>
              </a:rPr>
              <a:t>Agriculture, forestry and land use take 25% of the USD 14.8bn tracked.</a:t>
            </a:r>
          </a:p>
          <a:p>
            <a:pPr>
              <a:lnSpc>
                <a:spcPct val="130000"/>
              </a:lnSpc>
              <a:spcAft>
                <a:spcPts val="900"/>
              </a:spcAft>
            </a:pPr>
            <a:r>
              <a:rPr sz="1150" b="1">
                <a:solidFill>
                  <a:srgbClr val="98C11F"/>
                </a:solidFill>
                <a:latin typeface="Montserrat"/>
              </a:rPr>
              <a:t>—  </a:t>
            </a:r>
            <a:r>
              <a:rPr sz="1150">
                <a:solidFill>
                  <a:srgbClr val="2B2B2B"/>
                </a:solidFill>
                <a:latin typeface="Montserrat"/>
              </a:rPr>
              <a:t>Policy, budget support and capacity take 21%; water and wastewater 16%.</a:t>
            </a:r>
          </a:p>
          <a:p>
            <a:pPr>
              <a:lnSpc>
                <a:spcPct val="130000"/>
              </a:lnSpc>
              <a:spcAft>
                <a:spcPts val="900"/>
              </a:spcAft>
            </a:pPr>
            <a:r>
              <a:rPr sz="1150" b="1">
                <a:solidFill>
                  <a:srgbClr val="98C11F"/>
                </a:solidFill>
                <a:latin typeface="Montserrat"/>
              </a:rPr>
              <a:t>—  </a:t>
            </a:r>
            <a:r>
              <a:rPr sz="1150">
                <a:solidFill>
                  <a:srgbClr val="2B2B2B"/>
                </a:solidFill>
                <a:latin typeface="Montserrat"/>
              </a:rPr>
              <a:t>"Other / unspecified" is 22% - the second largest block on the chart is a reporting gap.</a:t>
            </a:r>
          </a:p>
          <a:p>
            <a:pPr>
              <a:lnSpc>
                <a:spcPct val="130000"/>
              </a:lnSpc>
              <a:spcAft>
                <a:spcPts val="900"/>
              </a:spcAft>
            </a:pPr>
            <a:r>
              <a:rPr sz="1150" b="1">
                <a:solidFill>
                  <a:srgbClr val="98C11F"/>
                </a:solidFill>
                <a:latin typeface="Montserrat"/>
              </a:rPr>
              <a:t>—  </a:t>
            </a:r>
            <a:r>
              <a:rPr sz="1150">
                <a:solidFill>
                  <a:srgbClr val="2B2B2B"/>
                </a:solidFill>
                <a:latin typeface="Montserrat"/>
              </a:rPr>
              <a:t>Energy systems, industry and biodiversity are each 1% or less.</a:t>
            </a:r>
          </a:p>
        </p:txBody>
      </p:sp>
      <p:sp>
        <p:nvSpPr>
          <p:cNvPr id="8" name="TextBox 7"/>
          <p:cNvSpPr txBox="1"/>
          <p:nvPr/>
        </p:nvSpPr>
        <p:spPr>
          <a:xfrm>
            <a:off x="566928" y="6053328"/>
            <a:ext cx="11057839" cy="457200"/>
          </a:xfrm>
          <a:prstGeom prst="rect">
            <a:avLst/>
          </a:prstGeom>
          <a:noFill/>
        </p:spPr>
        <p:txBody>
          <a:bodyPr wrap="square" anchor="t" lIns="0" rIns="0" tIns="0" bIns="0">
            <a:spAutoFit/>
          </a:bodyPr>
          <a:lstStyle/>
          <a:p>
            <a:pPr algn="l">
              <a:lnSpc>
                <a:spcPct val="120000"/>
              </a:lnSpc>
              <a:spcAft>
                <a:spcPts val="0"/>
              </a:spcAft>
            </a:pPr>
            <a:r>
              <a:rPr sz="800" b="0" i="0">
                <a:solidFill>
                  <a:srgbClr val="6B6660"/>
                </a:solidFill>
                <a:latin typeface="Montserrat"/>
              </a:rPr>
              <a:t>Source: GCA &amp; CPI 2025, Figure 8. Shares are of USD 14.8bn tracked in 2023</a:t>
            </a:r>
          </a:p>
        </p:txBody>
      </p:sp>
      <p:sp>
        <p:nvSpPr>
          <p:cNvPr id="9" name="Rectangle 8"/>
          <p:cNvSpPr/>
          <p:nvPr/>
        </p:nvSpPr>
        <p:spPr>
          <a:xfrm>
            <a:off x="0" y="6583680"/>
            <a:ext cx="12191695" cy="32004"/>
          </a:xfrm>
          <a:prstGeom prst="rect">
            <a:avLst/>
          </a:prstGeom>
          <a:solidFill>
            <a:srgbClr val="E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638544"/>
            <a:ext cx="6400800" cy="201168"/>
          </a:xfrm>
          <a:prstGeom prst="rect">
            <a:avLst/>
          </a:prstGeom>
          <a:noFill/>
        </p:spPr>
        <p:txBody>
          <a:bodyPr wrap="square" anchor="t" lIns="0" rIns="0" tIns="0" bIns="0">
            <a:spAutoFit/>
          </a:bodyPr>
          <a:lstStyle/>
          <a:p>
            <a:pPr algn="l">
              <a:lnSpc>
                <a:spcPct val="125000"/>
              </a:lnSpc>
              <a:spcAft>
                <a:spcPts val="0"/>
              </a:spcAft>
            </a:pPr>
            <a:r>
              <a:rPr sz="800" b="1" i="0">
                <a:solidFill>
                  <a:srgbClr val="6B6660"/>
                </a:solidFill>
                <a:latin typeface="Montserrat"/>
              </a:rPr>
              <a:t>III · SECTORS AND DELIVERY</a:t>
            </a:r>
          </a:p>
        </p:txBody>
      </p:sp>
      <p:sp>
        <p:nvSpPr>
          <p:cNvPr id="11" name="TextBox 10"/>
          <p:cNvSpPr txBox="1"/>
          <p:nvPr/>
        </p:nvSpPr>
        <p:spPr>
          <a:xfrm>
            <a:off x="10527487" y="6638544"/>
            <a:ext cx="1097280" cy="201168"/>
          </a:xfrm>
          <a:prstGeom prst="rect">
            <a:avLst/>
          </a:prstGeom>
          <a:noFill/>
        </p:spPr>
        <p:txBody>
          <a:bodyPr wrap="square" anchor="t" lIns="0" rIns="0" tIns="0" bIns="0">
            <a:spAutoFit/>
          </a:bodyPr>
          <a:lstStyle/>
          <a:p>
            <a:pPr algn="r">
              <a:lnSpc>
                <a:spcPct val="125000"/>
              </a:lnSpc>
              <a:spcAft>
                <a:spcPts val="0"/>
              </a:spcAft>
            </a:pPr>
            <a:r>
              <a:rPr sz="800" b="1" i="0">
                <a:solidFill>
                  <a:srgbClr val="6B6660"/>
                </a:solidFill>
                <a:latin typeface="Montserra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7498079" cy="320040"/>
          </a:xfrm>
          <a:prstGeom prst="rect">
            <a:avLst/>
          </a:prstGeom>
          <a:noFill/>
        </p:spPr>
        <p:txBody>
          <a:bodyPr wrap="square" anchor="t" lIns="0" rIns="0" tIns="0" bIns="0">
            <a:spAutoFit/>
          </a:bodyPr>
          <a:lstStyle/>
          <a:p>
            <a:pPr algn="l">
              <a:lnSpc>
                <a:spcPct val="125000"/>
              </a:lnSpc>
              <a:spcAft>
                <a:spcPts val="0"/>
              </a:spcAft>
            </a:pPr>
            <a:r>
              <a:rPr sz="900" b="1" i="0">
                <a:solidFill>
                  <a:srgbClr val="387167"/>
                </a:solidFill>
                <a:latin typeface="Montserrat"/>
              </a:rPr>
              <a:t>III · SECTORS AND DELIVERY</a:t>
            </a:r>
          </a:p>
        </p:txBody>
      </p:sp>
      <p:sp>
        <p:nvSpPr>
          <p:cNvPr id="3" name="TextBox 2"/>
          <p:cNvSpPr txBox="1"/>
          <p:nvPr/>
        </p:nvSpPr>
        <p:spPr>
          <a:xfrm>
            <a:off x="566928" y="749808"/>
            <a:ext cx="10874959" cy="777240"/>
          </a:xfrm>
          <a:prstGeom prst="rect">
            <a:avLst/>
          </a:prstGeom>
          <a:noFill/>
        </p:spPr>
        <p:txBody>
          <a:bodyPr wrap="square" anchor="t" lIns="0" rIns="0" tIns="0" bIns="0">
            <a:spAutoFit/>
          </a:bodyPr>
          <a:lstStyle/>
          <a:p>
            <a:pPr algn="l">
              <a:lnSpc>
                <a:spcPct val="112000"/>
              </a:lnSpc>
              <a:spcAft>
                <a:spcPts val="0"/>
              </a:spcAft>
            </a:pPr>
            <a:r>
              <a:rPr sz="2100" b="1" i="0">
                <a:solidFill>
                  <a:srgbClr val="123B33"/>
                </a:solidFill>
                <a:latin typeface="Montserrat"/>
              </a:rPr>
              <a:t>The GCF pipeline is deep and the disbursement end is narrow</a:t>
            </a:r>
          </a:p>
        </p:txBody>
      </p:sp>
      <p:sp>
        <p:nvSpPr>
          <p:cNvPr id="4" name="Rectangle 3"/>
          <p:cNvSpPr/>
          <p:nvPr/>
        </p:nvSpPr>
        <p:spPr>
          <a:xfrm>
            <a:off x="566928" y="1627632"/>
            <a:ext cx="822960" cy="32004"/>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18_gcf_funnel.png"/>
          <p:cNvPicPr>
            <a:picLocks noChangeAspect="1"/>
          </p:cNvPicPr>
          <p:nvPr/>
        </p:nvPicPr>
        <p:blipFill>
          <a:blip r:embed="rId2"/>
          <a:stretch>
            <a:fillRect/>
          </a:stretch>
        </p:blipFill>
        <p:spPr>
          <a:xfrm>
            <a:off x="566928" y="2798794"/>
            <a:ext cx="7452360" cy="2083371"/>
          </a:xfrm>
          <a:prstGeom prst="rect">
            <a:avLst/>
          </a:prstGeom>
        </p:spPr>
      </p:pic>
      <p:sp>
        <p:nvSpPr>
          <p:cNvPr id="6" name="TextBox 5"/>
          <p:cNvSpPr txBox="1"/>
          <p:nvPr/>
        </p:nvSpPr>
        <p:spPr>
          <a:xfrm>
            <a:off x="8385048" y="1783080"/>
            <a:ext cx="3239719" cy="274320"/>
          </a:xfrm>
          <a:prstGeom prst="rect">
            <a:avLst/>
          </a:prstGeom>
          <a:noFill/>
        </p:spPr>
        <p:txBody>
          <a:bodyPr wrap="square" anchor="t" lIns="0" rIns="0" tIns="0" bIns="0">
            <a:spAutoFit/>
          </a:bodyPr>
          <a:lstStyle/>
          <a:p>
            <a:pPr algn="l">
              <a:lnSpc>
                <a:spcPct val="125000"/>
              </a:lnSpc>
              <a:spcAft>
                <a:spcPts val="0"/>
              </a:spcAft>
            </a:pPr>
            <a:r>
              <a:rPr sz="850" b="1" i="0">
                <a:solidFill>
                  <a:srgbClr val="6B6660"/>
                </a:solidFill>
                <a:latin typeface="Montserrat"/>
              </a:rPr>
              <a:t>WHAT IT SHOWS</a:t>
            </a:r>
          </a:p>
        </p:txBody>
      </p:sp>
      <p:sp>
        <p:nvSpPr>
          <p:cNvPr id="7" name="TextBox 6"/>
          <p:cNvSpPr txBox="1"/>
          <p:nvPr/>
        </p:nvSpPr>
        <p:spPr>
          <a:xfrm>
            <a:off x="8385048" y="2148840"/>
            <a:ext cx="3239719" cy="3566160"/>
          </a:xfrm>
          <a:prstGeom prst="rect">
            <a:avLst/>
          </a:prstGeom>
          <a:noFill/>
        </p:spPr>
        <p:txBody>
          <a:bodyPr wrap="square" lIns="0" rIns="0" tIns="0" bIns="0">
            <a:spAutoFit/>
          </a:bodyPr>
          <a:lstStyle/>
          <a:p>
            <a:pPr>
              <a:lnSpc>
                <a:spcPct val="130000"/>
              </a:lnSpc>
              <a:spcAft>
                <a:spcPts val="900"/>
              </a:spcAft>
            </a:pPr>
            <a:r>
              <a:rPr sz="1150" b="1">
                <a:solidFill>
                  <a:srgbClr val="98C11F"/>
                </a:solidFill>
                <a:latin typeface="Montserrat"/>
              </a:rPr>
              <a:t>—  </a:t>
            </a:r>
            <a:r>
              <a:rPr sz="1150">
                <a:solidFill>
                  <a:srgbClr val="2B2B2B"/>
                </a:solidFill>
                <a:latin typeface="Montserrat"/>
              </a:rPr>
              <a:t>314 projects approved to date, with 161 concept notes and 70 funding proposals behind them.</a:t>
            </a:r>
          </a:p>
          <a:p>
            <a:pPr>
              <a:lnSpc>
                <a:spcPct val="130000"/>
              </a:lnSpc>
              <a:spcAft>
                <a:spcPts val="900"/>
              </a:spcAft>
            </a:pPr>
            <a:r>
              <a:rPr sz="1150" b="1">
                <a:solidFill>
                  <a:srgbClr val="98C11F"/>
                </a:solidFill>
                <a:latin typeface="Montserrat"/>
              </a:rPr>
              <a:t>—  </a:t>
            </a:r>
            <a:r>
              <a:rPr sz="1150">
                <a:solidFill>
                  <a:srgbClr val="2B2B2B"/>
                </a:solidFill>
                <a:latin typeface="Montserrat"/>
              </a:rPr>
              <a:t>A third of approvals has disbursed - 106 projects.</a:t>
            </a:r>
          </a:p>
          <a:p>
            <a:pPr>
              <a:lnSpc>
                <a:spcPct val="130000"/>
              </a:lnSpc>
              <a:spcAft>
                <a:spcPts val="900"/>
              </a:spcAft>
            </a:pPr>
            <a:r>
              <a:rPr sz="1150" b="1">
                <a:solidFill>
                  <a:srgbClr val="98C11F"/>
                </a:solidFill>
                <a:latin typeface="Montserrat"/>
              </a:rPr>
              <a:t>—  </a:t>
            </a:r>
            <a:r>
              <a:rPr sz="1150">
                <a:solidFill>
                  <a:srgbClr val="2B2B2B"/>
                </a:solidFill>
                <a:latin typeface="Montserrat"/>
              </a:rPr>
              <a:t>Only 35% of project preparation grants reach approval.</a:t>
            </a:r>
          </a:p>
          <a:p>
            <a:pPr>
              <a:lnSpc>
                <a:spcPct val="130000"/>
              </a:lnSpc>
              <a:spcAft>
                <a:spcPts val="900"/>
              </a:spcAft>
            </a:pPr>
            <a:r>
              <a:rPr sz="1150" b="1">
                <a:solidFill>
                  <a:srgbClr val="98C11F"/>
                </a:solidFill>
                <a:latin typeface="Montserrat"/>
              </a:rPr>
              <a:t>—  </a:t>
            </a:r>
            <a:r>
              <a:rPr sz="1150">
                <a:solidFill>
                  <a:srgbClr val="2B2B2B"/>
                </a:solidFill>
                <a:latin typeface="Montserrat"/>
              </a:rPr>
              <a:t>The approval cycle runs 10 months at the GCF to 32 months at the GEF LDCF, before first disbursement.</a:t>
            </a:r>
          </a:p>
        </p:txBody>
      </p:sp>
      <p:sp>
        <p:nvSpPr>
          <p:cNvPr id="8" name="TextBox 7"/>
          <p:cNvSpPr txBox="1"/>
          <p:nvPr/>
        </p:nvSpPr>
        <p:spPr>
          <a:xfrm>
            <a:off x="566928" y="6053328"/>
            <a:ext cx="11057839" cy="457200"/>
          </a:xfrm>
          <a:prstGeom prst="rect">
            <a:avLst/>
          </a:prstGeom>
          <a:noFill/>
        </p:spPr>
        <p:txBody>
          <a:bodyPr wrap="square" anchor="t" lIns="0" rIns="0" tIns="0" bIns="0">
            <a:spAutoFit/>
          </a:bodyPr>
          <a:lstStyle/>
          <a:p>
            <a:pPr algn="l">
              <a:lnSpc>
                <a:spcPct val="120000"/>
              </a:lnSpc>
              <a:spcAft>
                <a:spcPts val="0"/>
              </a:spcAft>
            </a:pPr>
            <a:r>
              <a:rPr sz="800" b="0" i="0">
                <a:solidFill>
                  <a:srgbClr val="6B6660"/>
                </a:solidFill>
                <a:latin typeface="Montserrat"/>
              </a:rPr>
              <a:t>Source: GCF portfolio dashboard and pipeline, July 2026; Adaptation Fund APR 2025; GEF AMR FY24 and FY25</a:t>
            </a:r>
          </a:p>
        </p:txBody>
      </p:sp>
      <p:sp>
        <p:nvSpPr>
          <p:cNvPr id="9" name="Rectangle 8"/>
          <p:cNvSpPr/>
          <p:nvPr/>
        </p:nvSpPr>
        <p:spPr>
          <a:xfrm>
            <a:off x="0" y="6583680"/>
            <a:ext cx="12191695" cy="32004"/>
          </a:xfrm>
          <a:prstGeom prst="rect">
            <a:avLst/>
          </a:prstGeom>
          <a:solidFill>
            <a:srgbClr val="E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638544"/>
            <a:ext cx="6400800" cy="201168"/>
          </a:xfrm>
          <a:prstGeom prst="rect">
            <a:avLst/>
          </a:prstGeom>
          <a:noFill/>
        </p:spPr>
        <p:txBody>
          <a:bodyPr wrap="square" anchor="t" lIns="0" rIns="0" tIns="0" bIns="0">
            <a:spAutoFit/>
          </a:bodyPr>
          <a:lstStyle/>
          <a:p>
            <a:pPr algn="l">
              <a:lnSpc>
                <a:spcPct val="125000"/>
              </a:lnSpc>
              <a:spcAft>
                <a:spcPts val="0"/>
              </a:spcAft>
            </a:pPr>
            <a:r>
              <a:rPr sz="800" b="1" i="0">
                <a:solidFill>
                  <a:srgbClr val="6B6660"/>
                </a:solidFill>
                <a:latin typeface="Montserrat"/>
              </a:rPr>
              <a:t>III · SECTORS AND DELIVERY</a:t>
            </a:r>
          </a:p>
        </p:txBody>
      </p:sp>
      <p:sp>
        <p:nvSpPr>
          <p:cNvPr id="11" name="TextBox 10"/>
          <p:cNvSpPr txBox="1"/>
          <p:nvPr/>
        </p:nvSpPr>
        <p:spPr>
          <a:xfrm>
            <a:off x="10527487" y="6638544"/>
            <a:ext cx="1097280" cy="201168"/>
          </a:xfrm>
          <a:prstGeom prst="rect">
            <a:avLst/>
          </a:prstGeom>
          <a:noFill/>
        </p:spPr>
        <p:txBody>
          <a:bodyPr wrap="square" anchor="t" lIns="0" rIns="0" tIns="0" bIns="0">
            <a:spAutoFit/>
          </a:bodyPr>
          <a:lstStyle/>
          <a:p>
            <a:pPr algn="r">
              <a:lnSpc>
                <a:spcPct val="125000"/>
              </a:lnSpc>
              <a:spcAft>
                <a:spcPts val="0"/>
              </a:spcAft>
            </a:pPr>
            <a:r>
              <a:rPr sz="800" b="1" i="0">
                <a:solidFill>
                  <a:srgbClr val="6B6660"/>
                </a:solidFill>
                <a:latin typeface="Montserra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7498079" cy="320040"/>
          </a:xfrm>
          <a:prstGeom prst="rect">
            <a:avLst/>
          </a:prstGeom>
          <a:noFill/>
        </p:spPr>
        <p:txBody>
          <a:bodyPr wrap="square" anchor="t" lIns="0" rIns="0" tIns="0" bIns="0">
            <a:spAutoFit/>
          </a:bodyPr>
          <a:lstStyle/>
          <a:p>
            <a:pPr algn="l">
              <a:lnSpc>
                <a:spcPct val="125000"/>
              </a:lnSpc>
              <a:spcAft>
                <a:spcPts val="0"/>
              </a:spcAft>
            </a:pPr>
            <a:r>
              <a:rPr sz="900" b="1" i="0">
                <a:solidFill>
                  <a:srgbClr val="387167"/>
                </a:solidFill>
                <a:latin typeface="Montserrat"/>
              </a:rPr>
              <a:t>III · SECTORS AND DELIVERY</a:t>
            </a:r>
          </a:p>
        </p:txBody>
      </p:sp>
      <p:sp>
        <p:nvSpPr>
          <p:cNvPr id="3" name="TextBox 2"/>
          <p:cNvSpPr txBox="1"/>
          <p:nvPr/>
        </p:nvSpPr>
        <p:spPr>
          <a:xfrm>
            <a:off x="566928" y="749808"/>
            <a:ext cx="10874959" cy="777240"/>
          </a:xfrm>
          <a:prstGeom prst="rect">
            <a:avLst/>
          </a:prstGeom>
          <a:noFill/>
        </p:spPr>
        <p:txBody>
          <a:bodyPr wrap="square" anchor="t" lIns="0" rIns="0" tIns="0" bIns="0">
            <a:spAutoFit/>
          </a:bodyPr>
          <a:lstStyle/>
          <a:p>
            <a:pPr algn="l">
              <a:lnSpc>
                <a:spcPct val="112000"/>
              </a:lnSpc>
              <a:spcAft>
                <a:spcPts val="0"/>
              </a:spcAft>
            </a:pPr>
            <a:r>
              <a:rPr sz="2100" b="1" i="0">
                <a:solidFill>
                  <a:srgbClr val="123B33"/>
                </a:solidFill>
                <a:latin typeface="Montserrat"/>
              </a:rPr>
              <a:t>Preparation money is the cheapest leverage in the system, and the facilities are all small</a:t>
            </a:r>
          </a:p>
        </p:txBody>
      </p:sp>
      <p:sp>
        <p:nvSpPr>
          <p:cNvPr id="4" name="Rectangle 3"/>
          <p:cNvSpPr/>
          <p:nvPr/>
        </p:nvSpPr>
        <p:spPr>
          <a:xfrm>
            <a:off x="566928" y="1627632"/>
            <a:ext cx="822960" cy="32004"/>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19_prep_facilities.png"/>
          <p:cNvPicPr>
            <a:picLocks noChangeAspect="1"/>
          </p:cNvPicPr>
          <p:nvPr/>
        </p:nvPicPr>
        <p:blipFill>
          <a:blip r:embed="rId2"/>
          <a:stretch>
            <a:fillRect/>
          </a:stretch>
        </p:blipFill>
        <p:spPr>
          <a:xfrm>
            <a:off x="566928" y="2566662"/>
            <a:ext cx="7452360" cy="2547634"/>
          </a:xfrm>
          <a:prstGeom prst="rect">
            <a:avLst/>
          </a:prstGeom>
        </p:spPr>
      </p:pic>
      <p:sp>
        <p:nvSpPr>
          <p:cNvPr id="6" name="TextBox 5"/>
          <p:cNvSpPr txBox="1"/>
          <p:nvPr/>
        </p:nvSpPr>
        <p:spPr>
          <a:xfrm>
            <a:off x="8385048" y="1783080"/>
            <a:ext cx="3239719" cy="274320"/>
          </a:xfrm>
          <a:prstGeom prst="rect">
            <a:avLst/>
          </a:prstGeom>
          <a:noFill/>
        </p:spPr>
        <p:txBody>
          <a:bodyPr wrap="square" anchor="t" lIns="0" rIns="0" tIns="0" bIns="0">
            <a:spAutoFit/>
          </a:bodyPr>
          <a:lstStyle/>
          <a:p>
            <a:pPr algn="l">
              <a:lnSpc>
                <a:spcPct val="125000"/>
              </a:lnSpc>
              <a:spcAft>
                <a:spcPts val="0"/>
              </a:spcAft>
            </a:pPr>
            <a:r>
              <a:rPr sz="850" b="1" i="0">
                <a:solidFill>
                  <a:srgbClr val="6B6660"/>
                </a:solidFill>
                <a:latin typeface="Montserrat"/>
              </a:rPr>
              <a:t>WHAT IT SHOWS</a:t>
            </a:r>
          </a:p>
        </p:txBody>
      </p:sp>
      <p:sp>
        <p:nvSpPr>
          <p:cNvPr id="7" name="TextBox 6"/>
          <p:cNvSpPr txBox="1"/>
          <p:nvPr/>
        </p:nvSpPr>
        <p:spPr>
          <a:xfrm>
            <a:off x="8385048" y="2148840"/>
            <a:ext cx="3239719" cy="3566160"/>
          </a:xfrm>
          <a:prstGeom prst="rect">
            <a:avLst/>
          </a:prstGeom>
          <a:noFill/>
        </p:spPr>
        <p:txBody>
          <a:bodyPr wrap="square" lIns="0" rIns="0" tIns="0" bIns="0">
            <a:spAutoFit/>
          </a:bodyPr>
          <a:lstStyle/>
          <a:p>
            <a:pPr>
              <a:lnSpc>
                <a:spcPct val="130000"/>
              </a:lnSpc>
              <a:spcAft>
                <a:spcPts val="900"/>
              </a:spcAft>
            </a:pPr>
            <a:r>
              <a:rPr sz="1150" b="1">
                <a:solidFill>
                  <a:srgbClr val="98C11F"/>
                </a:solidFill>
                <a:latin typeface="Montserrat"/>
              </a:rPr>
              <a:t>—  </a:t>
            </a:r>
            <a:r>
              <a:rPr sz="1150">
                <a:solidFill>
                  <a:srgbClr val="2B2B2B"/>
                </a:solidFill>
                <a:latin typeface="Montserrat"/>
              </a:rPr>
              <a:t>NEPAD-IPPF turned USD 124m of preparation spend into USD 13bn of investment - 105x.</a:t>
            </a:r>
          </a:p>
          <a:p>
            <a:pPr>
              <a:lnSpc>
                <a:spcPct val="130000"/>
              </a:lnSpc>
              <a:spcAft>
                <a:spcPts val="900"/>
              </a:spcAft>
            </a:pPr>
            <a:r>
              <a:rPr sz="1150" b="1">
                <a:solidFill>
                  <a:srgbClr val="98C11F"/>
                </a:solidFill>
                <a:latin typeface="Montserrat"/>
              </a:rPr>
              <a:t>—  </a:t>
            </a:r>
            <a:r>
              <a:rPr sz="1150">
                <a:solidFill>
                  <a:srgbClr val="2B2B2B"/>
                </a:solidFill>
                <a:latin typeface="Montserrat"/>
              </a:rPr>
              <a:t>The African Water Facility returned about 21x, PPIAF about 73x.</a:t>
            </a:r>
          </a:p>
          <a:p>
            <a:pPr>
              <a:lnSpc>
                <a:spcPct val="130000"/>
              </a:lnSpc>
              <a:spcAft>
                <a:spcPts val="900"/>
              </a:spcAft>
            </a:pPr>
            <a:r>
              <a:rPr sz="1150" b="1">
                <a:solidFill>
                  <a:srgbClr val="98C11F"/>
                </a:solidFill>
                <a:latin typeface="Montserrat"/>
              </a:rPr>
              <a:t>—  </a:t>
            </a:r>
            <a:r>
              <a:rPr sz="1150">
                <a:solidFill>
                  <a:srgbClr val="2B2B2B"/>
                </a:solidFill>
                <a:latin typeface="Montserrat"/>
              </a:rPr>
              <a:t>The GCF Project Preparation Facility committed USD 4.5m in its 2024 cohort.</a:t>
            </a:r>
          </a:p>
          <a:p>
            <a:pPr>
              <a:lnSpc>
                <a:spcPct val="130000"/>
              </a:lnSpc>
              <a:spcAft>
                <a:spcPts val="900"/>
              </a:spcAft>
            </a:pPr>
            <a:r>
              <a:rPr sz="1150" b="1">
                <a:solidFill>
                  <a:srgbClr val="98C11F"/>
                </a:solidFill>
                <a:latin typeface="Montserrat"/>
              </a:rPr>
              <a:t>—  </a:t>
            </a:r>
            <a:r>
              <a:rPr sz="1150">
                <a:solidFill>
                  <a:srgbClr val="2B2B2B"/>
                </a:solidFill>
                <a:latin typeface="Montserrat"/>
              </a:rPr>
              <a:t>These are the smallest budgets in the system and the highest returns on them.</a:t>
            </a:r>
          </a:p>
        </p:txBody>
      </p:sp>
      <p:sp>
        <p:nvSpPr>
          <p:cNvPr id="8" name="TextBox 7"/>
          <p:cNvSpPr txBox="1"/>
          <p:nvPr/>
        </p:nvSpPr>
        <p:spPr>
          <a:xfrm>
            <a:off x="566928" y="6053328"/>
            <a:ext cx="11057839" cy="457200"/>
          </a:xfrm>
          <a:prstGeom prst="rect">
            <a:avLst/>
          </a:prstGeom>
          <a:noFill/>
        </p:spPr>
        <p:txBody>
          <a:bodyPr wrap="square" anchor="t" lIns="0" rIns="0" tIns="0" bIns="0">
            <a:spAutoFit/>
          </a:bodyPr>
          <a:lstStyle/>
          <a:p>
            <a:pPr algn="l">
              <a:lnSpc>
                <a:spcPct val="120000"/>
              </a:lnSpc>
              <a:spcAft>
                <a:spcPts val="0"/>
              </a:spcAft>
            </a:pPr>
            <a:r>
              <a:rPr sz="800" b="0" i="0">
                <a:solidFill>
                  <a:srgbClr val="6B6660"/>
                </a:solidFill>
                <a:latin typeface="Montserrat"/>
              </a:rPr>
              <a:t>Source: Facility annual reports 2024 and 2025; GCF PPF portfolio; PIDG results 2024</a:t>
            </a:r>
          </a:p>
        </p:txBody>
      </p:sp>
      <p:sp>
        <p:nvSpPr>
          <p:cNvPr id="9" name="Rectangle 8"/>
          <p:cNvSpPr/>
          <p:nvPr/>
        </p:nvSpPr>
        <p:spPr>
          <a:xfrm>
            <a:off x="0" y="6583680"/>
            <a:ext cx="12191695" cy="32004"/>
          </a:xfrm>
          <a:prstGeom prst="rect">
            <a:avLst/>
          </a:prstGeom>
          <a:solidFill>
            <a:srgbClr val="E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638544"/>
            <a:ext cx="6400800" cy="201168"/>
          </a:xfrm>
          <a:prstGeom prst="rect">
            <a:avLst/>
          </a:prstGeom>
          <a:noFill/>
        </p:spPr>
        <p:txBody>
          <a:bodyPr wrap="square" anchor="t" lIns="0" rIns="0" tIns="0" bIns="0">
            <a:spAutoFit/>
          </a:bodyPr>
          <a:lstStyle/>
          <a:p>
            <a:pPr algn="l">
              <a:lnSpc>
                <a:spcPct val="125000"/>
              </a:lnSpc>
              <a:spcAft>
                <a:spcPts val="0"/>
              </a:spcAft>
            </a:pPr>
            <a:r>
              <a:rPr sz="800" b="1" i="0">
                <a:solidFill>
                  <a:srgbClr val="6B6660"/>
                </a:solidFill>
                <a:latin typeface="Montserrat"/>
              </a:rPr>
              <a:t>III · SECTORS AND DELIVERY</a:t>
            </a:r>
          </a:p>
        </p:txBody>
      </p:sp>
      <p:sp>
        <p:nvSpPr>
          <p:cNvPr id="11" name="TextBox 10"/>
          <p:cNvSpPr txBox="1"/>
          <p:nvPr/>
        </p:nvSpPr>
        <p:spPr>
          <a:xfrm>
            <a:off x="10527487" y="6638544"/>
            <a:ext cx="1097280" cy="201168"/>
          </a:xfrm>
          <a:prstGeom prst="rect">
            <a:avLst/>
          </a:prstGeom>
          <a:noFill/>
        </p:spPr>
        <p:txBody>
          <a:bodyPr wrap="square" anchor="t" lIns="0" rIns="0" tIns="0" bIns="0">
            <a:spAutoFit/>
          </a:bodyPr>
          <a:lstStyle/>
          <a:p>
            <a:pPr algn="r">
              <a:lnSpc>
                <a:spcPct val="125000"/>
              </a:lnSpc>
              <a:spcAft>
                <a:spcPts val="0"/>
              </a:spcAft>
            </a:pPr>
            <a:r>
              <a:rPr sz="800" b="1" i="0">
                <a:solidFill>
                  <a:srgbClr val="6B6660"/>
                </a:solidFill>
                <a:latin typeface="Montserra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87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2286000"/>
            <a:ext cx="1828800" cy="822960"/>
          </a:xfrm>
          <a:prstGeom prst="rect">
            <a:avLst/>
          </a:prstGeom>
          <a:noFill/>
        </p:spPr>
        <p:txBody>
          <a:bodyPr wrap="square" anchor="t" lIns="0" rIns="0" tIns="0" bIns="0">
            <a:spAutoFit/>
          </a:bodyPr>
          <a:lstStyle/>
          <a:p>
            <a:pPr algn="l">
              <a:lnSpc>
                <a:spcPct val="100000"/>
              </a:lnSpc>
              <a:spcAft>
                <a:spcPts val="0"/>
              </a:spcAft>
            </a:pPr>
            <a:r>
              <a:rPr sz="5200" b="1" i="0">
                <a:solidFill>
                  <a:srgbClr val="98C11F"/>
                </a:solidFill>
                <a:latin typeface="Montserrat"/>
              </a:rPr>
              <a:t>IV</a:t>
            </a:r>
          </a:p>
        </p:txBody>
      </p:sp>
      <p:sp>
        <p:nvSpPr>
          <p:cNvPr id="5" name="TextBox 4"/>
          <p:cNvSpPr txBox="1"/>
          <p:nvPr/>
        </p:nvSpPr>
        <p:spPr>
          <a:xfrm>
            <a:off x="1024128" y="3154680"/>
            <a:ext cx="8961120" cy="822960"/>
          </a:xfrm>
          <a:prstGeom prst="rect">
            <a:avLst/>
          </a:prstGeom>
          <a:noFill/>
        </p:spPr>
        <p:txBody>
          <a:bodyPr wrap="square" anchor="t" lIns="0" rIns="0" tIns="0" bIns="0">
            <a:spAutoFit/>
          </a:bodyPr>
          <a:lstStyle/>
          <a:p>
            <a:pPr algn="l">
              <a:lnSpc>
                <a:spcPct val="105000"/>
              </a:lnSpc>
              <a:spcAft>
                <a:spcPts val="0"/>
              </a:spcAft>
            </a:pPr>
            <a:r>
              <a:rPr sz="3300" b="1" i="0">
                <a:solidFill>
                  <a:srgbClr val="FFFFFF"/>
                </a:solidFill>
                <a:latin typeface="Montserrat"/>
              </a:rPr>
              <a:t>Value, appraisal and pledges</a:t>
            </a:r>
          </a:p>
        </p:txBody>
      </p:sp>
      <p:sp>
        <p:nvSpPr>
          <p:cNvPr id="6" name="TextBox 5"/>
          <p:cNvSpPr txBox="1"/>
          <p:nvPr/>
        </p:nvSpPr>
        <p:spPr>
          <a:xfrm>
            <a:off x="1024128" y="4114800"/>
            <a:ext cx="7863840" cy="1005840"/>
          </a:xfrm>
          <a:prstGeom prst="rect">
            <a:avLst/>
          </a:prstGeom>
          <a:noFill/>
        </p:spPr>
        <p:txBody>
          <a:bodyPr wrap="square" anchor="t" lIns="0" rIns="0" tIns="0" bIns="0">
            <a:spAutoFit/>
          </a:bodyPr>
          <a:lstStyle/>
          <a:p>
            <a:pPr algn="l">
              <a:lnSpc>
                <a:spcPct val="140000"/>
              </a:lnSpc>
              <a:spcAft>
                <a:spcPts val="0"/>
              </a:spcAft>
            </a:pPr>
            <a:r>
              <a:rPr sz="1400" b="0" i="0">
                <a:solidFill>
                  <a:srgbClr val="D3E0DC"/>
                </a:solidFill>
                <a:latin typeface="Montserrat"/>
              </a:rPr>
              <a:t>The benefit-cost evidence, the triple dividend, the quality of appraisal, and the distance between pledges and delivery.</a:t>
            </a:r>
          </a:p>
        </p:txBody>
      </p:sp>
      <p:sp>
        <p:nvSpPr>
          <p:cNvPr id="7" name="TextBox 6"/>
          <p:cNvSpPr txBox="1"/>
          <p:nvPr/>
        </p:nvSpPr>
        <p:spPr>
          <a:xfrm>
            <a:off x="8515807" y="4114800"/>
            <a:ext cx="3108960" cy="365760"/>
          </a:xfrm>
          <a:prstGeom prst="rect">
            <a:avLst/>
          </a:prstGeom>
          <a:noFill/>
        </p:spPr>
        <p:txBody>
          <a:bodyPr wrap="square" anchor="t" lIns="0" rIns="0" tIns="0" bIns="0">
            <a:spAutoFit/>
          </a:bodyPr>
          <a:lstStyle/>
          <a:p>
            <a:pPr algn="r">
              <a:lnSpc>
                <a:spcPct val="125000"/>
              </a:lnSpc>
              <a:spcAft>
                <a:spcPts val="0"/>
              </a:spcAft>
            </a:pPr>
            <a:r>
              <a:rPr sz="1000" b="1" i="0">
                <a:solidFill>
                  <a:srgbClr val="98C11F"/>
                </a:solidFill>
                <a:latin typeface="Montserrat"/>
              </a:rPr>
              <a:t>FIGURES 22–27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7498079" cy="320040"/>
          </a:xfrm>
          <a:prstGeom prst="rect">
            <a:avLst/>
          </a:prstGeom>
          <a:noFill/>
        </p:spPr>
        <p:txBody>
          <a:bodyPr wrap="square" anchor="t" lIns="0" rIns="0" tIns="0" bIns="0">
            <a:spAutoFit/>
          </a:bodyPr>
          <a:lstStyle/>
          <a:p>
            <a:pPr algn="l">
              <a:lnSpc>
                <a:spcPct val="125000"/>
              </a:lnSpc>
              <a:spcAft>
                <a:spcPts val="0"/>
              </a:spcAft>
            </a:pPr>
            <a:r>
              <a:rPr sz="900" b="1" i="0">
                <a:solidFill>
                  <a:srgbClr val="387167"/>
                </a:solidFill>
                <a:latin typeface="Montserrat"/>
              </a:rPr>
              <a:t>IV · VALUE AND PLEDGES</a:t>
            </a:r>
          </a:p>
        </p:txBody>
      </p:sp>
      <p:sp>
        <p:nvSpPr>
          <p:cNvPr id="3" name="TextBox 2"/>
          <p:cNvSpPr txBox="1"/>
          <p:nvPr/>
        </p:nvSpPr>
        <p:spPr>
          <a:xfrm>
            <a:off x="566928" y="749808"/>
            <a:ext cx="10874959" cy="777240"/>
          </a:xfrm>
          <a:prstGeom prst="rect">
            <a:avLst/>
          </a:prstGeom>
          <a:noFill/>
        </p:spPr>
        <p:txBody>
          <a:bodyPr wrap="square" anchor="t" lIns="0" rIns="0" tIns="0" bIns="0">
            <a:spAutoFit/>
          </a:bodyPr>
          <a:lstStyle/>
          <a:p>
            <a:pPr algn="l">
              <a:lnSpc>
                <a:spcPct val="112000"/>
              </a:lnSpc>
              <a:spcAft>
                <a:spcPts val="0"/>
              </a:spcAft>
            </a:pPr>
            <a:r>
              <a:rPr sz="2100" b="1" i="0">
                <a:solidFill>
                  <a:srgbClr val="123B33"/>
                </a:solidFill>
                <a:latin typeface="Montserrat"/>
              </a:rPr>
              <a:t>Every appraisal in the evidence base clears one to one; the spread runs from 1.1 to 12</a:t>
            </a:r>
          </a:p>
        </p:txBody>
      </p:sp>
      <p:sp>
        <p:nvSpPr>
          <p:cNvPr id="4" name="Rectangle 3"/>
          <p:cNvSpPr/>
          <p:nvPr/>
        </p:nvSpPr>
        <p:spPr>
          <a:xfrm>
            <a:off x="566928" y="1627632"/>
            <a:ext cx="822960" cy="32004"/>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22_bcr_range.png"/>
          <p:cNvPicPr>
            <a:picLocks noChangeAspect="1"/>
          </p:cNvPicPr>
          <p:nvPr/>
        </p:nvPicPr>
        <p:blipFill>
          <a:blip r:embed="rId2"/>
          <a:stretch>
            <a:fillRect/>
          </a:stretch>
        </p:blipFill>
        <p:spPr>
          <a:xfrm>
            <a:off x="566928" y="2434834"/>
            <a:ext cx="7452360" cy="2811291"/>
          </a:xfrm>
          <a:prstGeom prst="rect">
            <a:avLst/>
          </a:prstGeom>
        </p:spPr>
      </p:pic>
      <p:sp>
        <p:nvSpPr>
          <p:cNvPr id="6" name="TextBox 5"/>
          <p:cNvSpPr txBox="1"/>
          <p:nvPr/>
        </p:nvSpPr>
        <p:spPr>
          <a:xfrm>
            <a:off x="8385048" y="1783080"/>
            <a:ext cx="3239719" cy="274320"/>
          </a:xfrm>
          <a:prstGeom prst="rect">
            <a:avLst/>
          </a:prstGeom>
          <a:noFill/>
        </p:spPr>
        <p:txBody>
          <a:bodyPr wrap="square" anchor="t" lIns="0" rIns="0" tIns="0" bIns="0">
            <a:spAutoFit/>
          </a:bodyPr>
          <a:lstStyle/>
          <a:p>
            <a:pPr algn="l">
              <a:lnSpc>
                <a:spcPct val="125000"/>
              </a:lnSpc>
              <a:spcAft>
                <a:spcPts val="0"/>
              </a:spcAft>
            </a:pPr>
            <a:r>
              <a:rPr sz="850" b="1" i="0">
                <a:solidFill>
                  <a:srgbClr val="6B6660"/>
                </a:solidFill>
                <a:latin typeface="Montserrat"/>
              </a:rPr>
              <a:t>WHAT IT SHOWS</a:t>
            </a:r>
          </a:p>
        </p:txBody>
      </p:sp>
      <p:sp>
        <p:nvSpPr>
          <p:cNvPr id="7" name="TextBox 6"/>
          <p:cNvSpPr txBox="1"/>
          <p:nvPr/>
        </p:nvSpPr>
        <p:spPr>
          <a:xfrm>
            <a:off x="8385048" y="2148840"/>
            <a:ext cx="3239719" cy="3566160"/>
          </a:xfrm>
          <a:prstGeom prst="rect">
            <a:avLst/>
          </a:prstGeom>
          <a:noFill/>
        </p:spPr>
        <p:txBody>
          <a:bodyPr wrap="square" lIns="0" rIns="0" tIns="0" bIns="0">
            <a:spAutoFit/>
          </a:bodyPr>
          <a:lstStyle/>
          <a:p>
            <a:pPr>
              <a:lnSpc>
                <a:spcPct val="130000"/>
              </a:lnSpc>
              <a:spcAft>
                <a:spcPts val="900"/>
              </a:spcAft>
            </a:pPr>
            <a:r>
              <a:rPr sz="1150" b="1">
                <a:solidFill>
                  <a:srgbClr val="98C11F"/>
                </a:solidFill>
                <a:latin typeface="Montserrat"/>
              </a:rPr>
              <a:t>—  </a:t>
            </a:r>
            <a:r>
              <a:rPr sz="1150">
                <a:solidFill>
                  <a:srgbClr val="2B2B2B"/>
                </a:solidFill>
                <a:latin typeface="Montserrat"/>
              </a:rPr>
              <a:t>Not one published appraisal in the base returns less than it costs.</a:t>
            </a:r>
          </a:p>
          <a:p>
            <a:pPr>
              <a:lnSpc>
                <a:spcPct val="130000"/>
              </a:lnSpc>
              <a:spcAft>
                <a:spcPts val="900"/>
              </a:spcAft>
            </a:pPr>
            <a:r>
              <a:rPr sz="1150" b="1">
                <a:solidFill>
                  <a:srgbClr val="98C11F"/>
                </a:solidFill>
                <a:latin typeface="Montserrat"/>
              </a:rPr>
              <a:t>—  </a:t>
            </a:r>
            <a:r>
              <a:rPr sz="1150">
                <a:solidFill>
                  <a:srgbClr val="2B2B2B"/>
                </a:solidFill>
                <a:latin typeface="Montserrat"/>
              </a:rPr>
              <a:t>The range runs from 1.1:1 to about 12:1 across agriculture, water, DRM and urban work.</a:t>
            </a:r>
          </a:p>
          <a:p>
            <a:pPr>
              <a:lnSpc>
                <a:spcPct val="130000"/>
              </a:lnSpc>
              <a:spcAft>
                <a:spcPts val="900"/>
              </a:spcAft>
            </a:pPr>
            <a:r>
              <a:rPr sz="1150" b="1">
                <a:solidFill>
                  <a:srgbClr val="98C11F"/>
                </a:solidFill>
                <a:latin typeface="Montserrat"/>
              </a:rPr>
              <a:t>—  </a:t>
            </a:r>
            <a:r>
              <a:rPr sz="1150">
                <a:solidFill>
                  <a:srgbClr val="2B2B2B"/>
                </a:solidFill>
                <a:latin typeface="Montserrat"/>
              </a:rPr>
              <a:t>Ex post evaluations sit inside the same range as ex ante appraisals - the returns survive contact with delivery.</a:t>
            </a:r>
          </a:p>
          <a:p>
            <a:pPr>
              <a:lnSpc>
                <a:spcPct val="130000"/>
              </a:lnSpc>
              <a:spcAft>
                <a:spcPts val="900"/>
              </a:spcAft>
            </a:pPr>
            <a:r>
              <a:rPr sz="1150" b="1">
                <a:solidFill>
                  <a:srgbClr val="98C11F"/>
                </a:solidFill>
                <a:latin typeface="Montserrat"/>
              </a:rPr>
              <a:t>—  </a:t>
            </a:r>
            <a:r>
              <a:rPr sz="1150">
                <a:solidFill>
                  <a:srgbClr val="2B2B2B"/>
                </a:solidFill>
                <a:latin typeface="Montserrat"/>
              </a:rPr>
              <a:t>The economic case is not what is holding the money back.</a:t>
            </a:r>
          </a:p>
        </p:txBody>
      </p:sp>
      <p:sp>
        <p:nvSpPr>
          <p:cNvPr id="8" name="TextBox 7"/>
          <p:cNvSpPr txBox="1"/>
          <p:nvPr/>
        </p:nvSpPr>
        <p:spPr>
          <a:xfrm>
            <a:off x="566928" y="6053328"/>
            <a:ext cx="11057839" cy="457200"/>
          </a:xfrm>
          <a:prstGeom prst="rect">
            <a:avLst/>
          </a:prstGeom>
          <a:noFill/>
        </p:spPr>
        <p:txBody>
          <a:bodyPr wrap="square" anchor="t" lIns="0" rIns="0" tIns="0" bIns="0">
            <a:spAutoFit/>
          </a:bodyPr>
          <a:lstStyle/>
          <a:p>
            <a:pPr algn="l">
              <a:lnSpc>
                <a:spcPct val="120000"/>
              </a:lnSpc>
              <a:spcAft>
                <a:spcPts val="0"/>
              </a:spcAft>
            </a:pPr>
            <a:r>
              <a:rPr sz="800" b="0" i="0">
                <a:solidFill>
                  <a:srgbClr val="6B6660"/>
                </a:solidFill>
                <a:latin typeface="Montserrat"/>
              </a:rPr>
              <a:t>Source: As cited in Part VI. Ranges are the published low and high; evidence type is the appraisal basis, not a quality ranking</a:t>
            </a:r>
          </a:p>
        </p:txBody>
      </p:sp>
      <p:sp>
        <p:nvSpPr>
          <p:cNvPr id="9" name="Rectangle 8"/>
          <p:cNvSpPr/>
          <p:nvPr/>
        </p:nvSpPr>
        <p:spPr>
          <a:xfrm>
            <a:off x="0" y="6583680"/>
            <a:ext cx="12191695" cy="32004"/>
          </a:xfrm>
          <a:prstGeom prst="rect">
            <a:avLst/>
          </a:prstGeom>
          <a:solidFill>
            <a:srgbClr val="E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638544"/>
            <a:ext cx="6400800" cy="201168"/>
          </a:xfrm>
          <a:prstGeom prst="rect">
            <a:avLst/>
          </a:prstGeom>
          <a:noFill/>
        </p:spPr>
        <p:txBody>
          <a:bodyPr wrap="square" anchor="t" lIns="0" rIns="0" tIns="0" bIns="0">
            <a:spAutoFit/>
          </a:bodyPr>
          <a:lstStyle/>
          <a:p>
            <a:pPr algn="l">
              <a:lnSpc>
                <a:spcPct val="125000"/>
              </a:lnSpc>
              <a:spcAft>
                <a:spcPts val="0"/>
              </a:spcAft>
            </a:pPr>
            <a:r>
              <a:rPr sz="800" b="1" i="0">
                <a:solidFill>
                  <a:srgbClr val="6B6660"/>
                </a:solidFill>
                <a:latin typeface="Montserrat"/>
              </a:rPr>
              <a:t>IV · VALUE AND PLEDGES</a:t>
            </a:r>
          </a:p>
        </p:txBody>
      </p:sp>
      <p:sp>
        <p:nvSpPr>
          <p:cNvPr id="11" name="TextBox 10"/>
          <p:cNvSpPr txBox="1"/>
          <p:nvPr/>
        </p:nvSpPr>
        <p:spPr>
          <a:xfrm>
            <a:off x="10527487" y="6638544"/>
            <a:ext cx="1097280" cy="201168"/>
          </a:xfrm>
          <a:prstGeom prst="rect">
            <a:avLst/>
          </a:prstGeom>
          <a:noFill/>
        </p:spPr>
        <p:txBody>
          <a:bodyPr wrap="square" anchor="t" lIns="0" rIns="0" tIns="0" bIns="0">
            <a:spAutoFit/>
          </a:bodyPr>
          <a:lstStyle/>
          <a:p>
            <a:pPr algn="r">
              <a:lnSpc>
                <a:spcPct val="125000"/>
              </a:lnSpc>
              <a:spcAft>
                <a:spcPts val="0"/>
              </a:spcAft>
            </a:pPr>
            <a:r>
              <a:rPr sz="800" b="1" i="0">
                <a:solidFill>
                  <a:srgbClr val="6B6660"/>
                </a:solidFill>
                <a:latin typeface="Montserra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7498079" cy="320040"/>
          </a:xfrm>
          <a:prstGeom prst="rect">
            <a:avLst/>
          </a:prstGeom>
          <a:noFill/>
        </p:spPr>
        <p:txBody>
          <a:bodyPr wrap="square" anchor="t" lIns="0" rIns="0" tIns="0" bIns="0">
            <a:spAutoFit/>
          </a:bodyPr>
          <a:lstStyle/>
          <a:p>
            <a:pPr algn="l">
              <a:lnSpc>
                <a:spcPct val="125000"/>
              </a:lnSpc>
              <a:spcAft>
                <a:spcPts val="0"/>
              </a:spcAft>
            </a:pPr>
            <a:r>
              <a:rPr sz="900" b="1" i="0">
                <a:solidFill>
                  <a:srgbClr val="387167"/>
                </a:solidFill>
                <a:latin typeface="Montserrat"/>
              </a:rPr>
              <a:t>IV · VALUE AND PLEDGES</a:t>
            </a:r>
          </a:p>
        </p:txBody>
      </p:sp>
      <p:sp>
        <p:nvSpPr>
          <p:cNvPr id="3" name="TextBox 2"/>
          <p:cNvSpPr txBox="1"/>
          <p:nvPr/>
        </p:nvSpPr>
        <p:spPr>
          <a:xfrm>
            <a:off x="566928" y="749808"/>
            <a:ext cx="10874959" cy="777240"/>
          </a:xfrm>
          <a:prstGeom prst="rect">
            <a:avLst/>
          </a:prstGeom>
          <a:noFill/>
        </p:spPr>
        <p:txBody>
          <a:bodyPr wrap="square" anchor="t" lIns="0" rIns="0" tIns="0" bIns="0">
            <a:spAutoFit/>
          </a:bodyPr>
          <a:lstStyle/>
          <a:p>
            <a:pPr algn="l">
              <a:lnSpc>
                <a:spcPct val="112000"/>
              </a:lnSpc>
              <a:spcAft>
                <a:spcPts val="0"/>
              </a:spcAft>
            </a:pPr>
            <a:r>
              <a:rPr sz="2100" b="1" i="0">
                <a:solidFill>
                  <a:srgbClr val="123B33"/>
                </a:solidFill>
                <a:latin typeface="Montserrat"/>
              </a:rPr>
              <a:t>Only 27 of 320 appraisals put a value on all three resilience dividends</a:t>
            </a:r>
          </a:p>
        </p:txBody>
      </p:sp>
      <p:sp>
        <p:nvSpPr>
          <p:cNvPr id="4" name="Rectangle 3"/>
          <p:cNvSpPr/>
          <p:nvPr/>
        </p:nvSpPr>
        <p:spPr>
          <a:xfrm>
            <a:off x="566928" y="1627632"/>
            <a:ext cx="822960" cy="32004"/>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24_appraisal_waffle.png"/>
          <p:cNvPicPr>
            <a:picLocks noChangeAspect="1"/>
          </p:cNvPicPr>
          <p:nvPr/>
        </p:nvPicPr>
        <p:blipFill>
          <a:blip r:embed="rId2"/>
          <a:stretch>
            <a:fillRect/>
          </a:stretch>
        </p:blipFill>
        <p:spPr>
          <a:xfrm>
            <a:off x="566928" y="2938778"/>
            <a:ext cx="7452360" cy="1803402"/>
          </a:xfrm>
          <a:prstGeom prst="rect">
            <a:avLst/>
          </a:prstGeom>
        </p:spPr>
      </p:pic>
      <p:sp>
        <p:nvSpPr>
          <p:cNvPr id="6" name="TextBox 5"/>
          <p:cNvSpPr txBox="1"/>
          <p:nvPr/>
        </p:nvSpPr>
        <p:spPr>
          <a:xfrm>
            <a:off x="8385048" y="1783080"/>
            <a:ext cx="3239719" cy="274320"/>
          </a:xfrm>
          <a:prstGeom prst="rect">
            <a:avLst/>
          </a:prstGeom>
          <a:noFill/>
        </p:spPr>
        <p:txBody>
          <a:bodyPr wrap="square" anchor="t" lIns="0" rIns="0" tIns="0" bIns="0">
            <a:spAutoFit/>
          </a:bodyPr>
          <a:lstStyle/>
          <a:p>
            <a:pPr algn="l">
              <a:lnSpc>
                <a:spcPct val="125000"/>
              </a:lnSpc>
              <a:spcAft>
                <a:spcPts val="0"/>
              </a:spcAft>
            </a:pPr>
            <a:r>
              <a:rPr sz="850" b="1" i="0">
                <a:solidFill>
                  <a:srgbClr val="6B6660"/>
                </a:solidFill>
                <a:latin typeface="Montserrat"/>
              </a:rPr>
              <a:t>WHAT IT SHOWS</a:t>
            </a:r>
          </a:p>
        </p:txBody>
      </p:sp>
      <p:sp>
        <p:nvSpPr>
          <p:cNvPr id="7" name="TextBox 6"/>
          <p:cNvSpPr txBox="1"/>
          <p:nvPr/>
        </p:nvSpPr>
        <p:spPr>
          <a:xfrm>
            <a:off x="8385048" y="2148840"/>
            <a:ext cx="3239719" cy="3566160"/>
          </a:xfrm>
          <a:prstGeom prst="rect">
            <a:avLst/>
          </a:prstGeom>
          <a:noFill/>
        </p:spPr>
        <p:txBody>
          <a:bodyPr wrap="square" lIns="0" rIns="0" tIns="0" bIns="0">
            <a:spAutoFit/>
          </a:bodyPr>
          <a:lstStyle/>
          <a:p>
            <a:pPr>
              <a:lnSpc>
                <a:spcPct val="130000"/>
              </a:lnSpc>
              <a:spcAft>
                <a:spcPts val="900"/>
              </a:spcAft>
            </a:pPr>
            <a:r>
              <a:rPr sz="1150" b="1">
                <a:solidFill>
                  <a:srgbClr val="98C11F"/>
                </a:solidFill>
                <a:latin typeface="Montserrat"/>
              </a:rPr>
              <a:t>—  </a:t>
            </a:r>
            <a:r>
              <a:rPr sz="1150">
                <a:solidFill>
                  <a:srgbClr val="2B2B2B"/>
                </a:solidFill>
                <a:latin typeface="Montserrat"/>
              </a:rPr>
              <a:t>Of 320 real adaptation appraisals, 27 monetise all three dividends - 8%.</a:t>
            </a:r>
          </a:p>
          <a:p>
            <a:pPr>
              <a:lnSpc>
                <a:spcPct val="130000"/>
              </a:lnSpc>
              <a:spcAft>
                <a:spcPts val="900"/>
              </a:spcAft>
            </a:pPr>
            <a:r>
              <a:rPr sz="1150" b="1">
                <a:solidFill>
                  <a:srgbClr val="98C11F"/>
                </a:solidFill>
                <a:latin typeface="Montserrat"/>
              </a:rPr>
              <a:t>—  </a:t>
            </a:r>
            <a:r>
              <a:rPr sz="1150">
                <a:solidFill>
                  <a:srgbClr val="2B2B2B"/>
                </a:solidFill>
                <a:latin typeface="Montserrat"/>
              </a:rPr>
              <a:t>157 monetise none at all - 49%.</a:t>
            </a:r>
          </a:p>
          <a:p>
            <a:pPr>
              <a:lnSpc>
                <a:spcPct val="130000"/>
              </a:lnSpc>
              <a:spcAft>
                <a:spcPts val="900"/>
              </a:spcAft>
            </a:pPr>
            <a:r>
              <a:rPr sz="1150" b="1">
                <a:solidFill>
                  <a:srgbClr val="98C11F"/>
                </a:solidFill>
                <a:latin typeface="Montserrat"/>
              </a:rPr>
              <a:t>—  </a:t>
            </a:r>
            <a:r>
              <a:rPr sz="1150">
                <a:solidFill>
                  <a:srgbClr val="2B2B2B"/>
                </a:solidFill>
                <a:latin typeface="Montserrat"/>
              </a:rPr>
              <a:t>Avoided losses are the dividend that gets counted; induced economic benefits and co-benefits mostly do not.</a:t>
            </a:r>
          </a:p>
          <a:p>
            <a:pPr>
              <a:lnSpc>
                <a:spcPct val="130000"/>
              </a:lnSpc>
              <a:spcAft>
                <a:spcPts val="900"/>
              </a:spcAft>
            </a:pPr>
            <a:r>
              <a:rPr sz="1150" b="1">
                <a:solidFill>
                  <a:srgbClr val="98C11F"/>
                </a:solidFill>
                <a:latin typeface="Montserrat"/>
              </a:rPr>
              <a:t>—  </a:t>
            </a:r>
            <a:r>
              <a:rPr sz="1150">
                <a:solidFill>
                  <a:srgbClr val="2B2B2B"/>
                </a:solidFill>
                <a:latin typeface="Montserrat"/>
              </a:rPr>
              <a:t>Under-counting the benefit side understates the case in the appraisals that decide whether projects proceed.</a:t>
            </a:r>
          </a:p>
        </p:txBody>
      </p:sp>
      <p:sp>
        <p:nvSpPr>
          <p:cNvPr id="8" name="TextBox 7"/>
          <p:cNvSpPr txBox="1"/>
          <p:nvPr/>
        </p:nvSpPr>
        <p:spPr>
          <a:xfrm>
            <a:off x="566928" y="6053328"/>
            <a:ext cx="11057839" cy="457200"/>
          </a:xfrm>
          <a:prstGeom prst="rect">
            <a:avLst/>
          </a:prstGeom>
          <a:noFill/>
        </p:spPr>
        <p:txBody>
          <a:bodyPr wrap="square" anchor="t" lIns="0" rIns="0" tIns="0" bIns="0">
            <a:spAutoFit/>
          </a:bodyPr>
          <a:lstStyle/>
          <a:p>
            <a:pPr algn="l">
              <a:lnSpc>
                <a:spcPct val="120000"/>
              </a:lnSpc>
              <a:spcAft>
                <a:spcPts val="0"/>
              </a:spcAft>
            </a:pPr>
            <a:r>
              <a:rPr sz="800" b="0" i="0">
                <a:solidFill>
                  <a:srgbClr val="6B6660"/>
                </a:solidFill>
                <a:latin typeface="Montserrat"/>
              </a:rPr>
              <a:t>Source: WRI, Strengthening the investment case for climate adaptation, 2025 (320 appraisals)</a:t>
            </a:r>
          </a:p>
        </p:txBody>
      </p:sp>
      <p:sp>
        <p:nvSpPr>
          <p:cNvPr id="9" name="Rectangle 8"/>
          <p:cNvSpPr/>
          <p:nvPr/>
        </p:nvSpPr>
        <p:spPr>
          <a:xfrm>
            <a:off x="0" y="6583680"/>
            <a:ext cx="12191695" cy="32004"/>
          </a:xfrm>
          <a:prstGeom prst="rect">
            <a:avLst/>
          </a:prstGeom>
          <a:solidFill>
            <a:srgbClr val="E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638544"/>
            <a:ext cx="6400800" cy="201168"/>
          </a:xfrm>
          <a:prstGeom prst="rect">
            <a:avLst/>
          </a:prstGeom>
          <a:noFill/>
        </p:spPr>
        <p:txBody>
          <a:bodyPr wrap="square" anchor="t" lIns="0" rIns="0" tIns="0" bIns="0">
            <a:spAutoFit/>
          </a:bodyPr>
          <a:lstStyle/>
          <a:p>
            <a:pPr algn="l">
              <a:lnSpc>
                <a:spcPct val="125000"/>
              </a:lnSpc>
              <a:spcAft>
                <a:spcPts val="0"/>
              </a:spcAft>
            </a:pPr>
            <a:r>
              <a:rPr sz="800" b="1" i="0">
                <a:solidFill>
                  <a:srgbClr val="6B6660"/>
                </a:solidFill>
                <a:latin typeface="Montserrat"/>
              </a:rPr>
              <a:t>IV · VALUE AND PLEDGES</a:t>
            </a:r>
          </a:p>
        </p:txBody>
      </p:sp>
      <p:sp>
        <p:nvSpPr>
          <p:cNvPr id="11" name="TextBox 10"/>
          <p:cNvSpPr txBox="1"/>
          <p:nvPr/>
        </p:nvSpPr>
        <p:spPr>
          <a:xfrm>
            <a:off x="10527487" y="6638544"/>
            <a:ext cx="1097280" cy="201168"/>
          </a:xfrm>
          <a:prstGeom prst="rect">
            <a:avLst/>
          </a:prstGeom>
          <a:noFill/>
        </p:spPr>
        <p:txBody>
          <a:bodyPr wrap="square" anchor="t" lIns="0" rIns="0" tIns="0" bIns="0">
            <a:spAutoFit/>
          </a:bodyPr>
          <a:lstStyle/>
          <a:p>
            <a:pPr algn="r">
              <a:lnSpc>
                <a:spcPct val="125000"/>
              </a:lnSpc>
              <a:spcAft>
                <a:spcPts val="0"/>
              </a:spcAft>
            </a:pPr>
            <a:r>
              <a:rPr sz="800" b="1" i="0">
                <a:solidFill>
                  <a:srgbClr val="6B6660"/>
                </a:solidFill>
                <a:latin typeface="Montserra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87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2286000"/>
            <a:ext cx="1828800" cy="822960"/>
          </a:xfrm>
          <a:prstGeom prst="rect">
            <a:avLst/>
          </a:prstGeom>
          <a:noFill/>
        </p:spPr>
        <p:txBody>
          <a:bodyPr wrap="square" anchor="t" lIns="0" rIns="0" tIns="0" bIns="0">
            <a:spAutoFit/>
          </a:bodyPr>
          <a:lstStyle/>
          <a:p>
            <a:pPr algn="l">
              <a:lnSpc>
                <a:spcPct val="100000"/>
              </a:lnSpc>
              <a:spcAft>
                <a:spcPts val="0"/>
              </a:spcAft>
            </a:pPr>
            <a:r>
              <a:rPr sz="5200" b="1" i="0">
                <a:solidFill>
                  <a:srgbClr val="98C11F"/>
                </a:solidFill>
                <a:latin typeface="Montserrat"/>
              </a:rPr>
              <a:t>V</a:t>
            </a:r>
          </a:p>
        </p:txBody>
      </p:sp>
      <p:sp>
        <p:nvSpPr>
          <p:cNvPr id="5" name="TextBox 4"/>
          <p:cNvSpPr txBox="1"/>
          <p:nvPr/>
        </p:nvSpPr>
        <p:spPr>
          <a:xfrm>
            <a:off x="1024128" y="3154680"/>
            <a:ext cx="8961120" cy="822960"/>
          </a:xfrm>
          <a:prstGeom prst="rect">
            <a:avLst/>
          </a:prstGeom>
          <a:noFill/>
        </p:spPr>
        <p:txBody>
          <a:bodyPr wrap="square" anchor="t" lIns="0" rIns="0" tIns="0" bIns="0">
            <a:spAutoFit/>
          </a:bodyPr>
          <a:lstStyle/>
          <a:p>
            <a:pPr algn="l">
              <a:lnSpc>
                <a:spcPct val="105000"/>
              </a:lnSpc>
              <a:spcAft>
                <a:spcPts val="0"/>
              </a:spcAft>
            </a:pPr>
            <a:r>
              <a:rPr sz="3300" b="1" i="0">
                <a:solidFill>
                  <a:srgbClr val="FFFFFF"/>
                </a:solidFill>
                <a:latin typeface="Montserrat"/>
              </a:rPr>
              <a:t>Geography</a:t>
            </a:r>
          </a:p>
        </p:txBody>
      </p:sp>
      <p:sp>
        <p:nvSpPr>
          <p:cNvPr id="6" name="TextBox 5"/>
          <p:cNvSpPr txBox="1"/>
          <p:nvPr/>
        </p:nvSpPr>
        <p:spPr>
          <a:xfrm>
            <a:off x="1024128" y="4114800"/>
            <a:ext cx="7863840" cy="1005840"/>
          </a:xfrm>
          <a:prstGeom prst="rect">
            <a:avLst/>
          </a:prstGeom>
          <a:noFill/>
        </p:spPr>
        <p:txBody>
          <a:bodyPr wrap="square" anchor="t" lIns="0" rIns="0" tIns="0" bIns="0">
            <a:spAutoFit/>
          </a:bodyPr>
          <a:lstStyle/>
          <a:p>
            <a:pPr algn="l">
              <a:lnSpc>
                <a:spcPct val="140000"/>
              </a:lnSpc>
              <a:spcAft>
                <a:spcPts val="0"/>
              </a:spcAft>
            </a:pPr>
            <a:r>
              <a:rPr sz="1400" b="0" i="0">
                <a:solidFill>
                  <a:srgbClr val="D3E0DC"/>
                </a:solidFill>
                <a:latin typeface="Montserrat"/>
              </a:rPr>
              <a:t>Regional and per-capita distribution, city-level activity, and finance set against vulnerability.</a:t>
            </a:r>
          </a:p>
        </p:txBody>
      </p:sp>
      <p:sp>
        <p:nvSpPr>
          <p:cNvPr id="7" name="TextBox 6"/>
          <p:cNvSpPr txBox="1"/>
          <p:nvPr/>
        </p:nvSpPr>
        <p:spPr>
          <a:xfrm>
            <a:off x="8515807" y="4114800"/>
            <a:ext cx="3108960" cy="365760"/>
          </a:xfrm>
          <a:prstGeom prst="rect">
            <a:avLst/>
          </a:prstGeom>
          <a:noFill/>
        </p:spPr>
        <p:txBody>
          <a:bodyPr wrap="square" anchor="t" lIns="0" rIns="0" tIns="0" bIns="0">
            <a:spAutoFit/>
          </a:bodyPr>
          <a:lstStyle/>
          <a:p>
            <a:pPr algn="r">
              <a:lnSpc>
                <a:spcPct val="125000"/>
              </a:lnSpc>
              <a:spcAft>
                <a:spcPts val="0"/>
              </a:spcAft>
            </a:pPr>
            <a:r>
              <a:rPr sz="1000" b="1" i="0">
                <a:solidFill>
                  <a:srgbClr val="98C11F"/>
                </a:solidFill>
                <a:latin typeface="Montserrat"/>
              </a:rPr>
              <a:t>FIGURES 28–35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7498079" cy="320040"/>
          </a:xfrm>
          <a:prstGeom prst="rect">
            <a:avLst/>
          </a:prstGeom>
          <a:noFill/>
        </p:spPr>
        <p:txBody>
          <a:bodyPr wrap="square" anchor="t" lIns="0" rIns="0" tIns="0" bIns="0">
            <a:spAutoFit/>
          </a:bodyPr>
          <a:lstStyle/>
          <a:p>
            <a:pPr algn="l">
              <a:lnSpc>
                <a:spcPct val="125000"/>
              </a:lnSpc>
              <a:spcAft>
                <a:spcPts val="0"/>
              </a:spcAft>
            </a:pPr>
            <a:r>
              <a:rPr sz="900" b="1" i="0">
                <a:solidFill>
                  <a:srgbClr val="387167"/>
                </a:solidFill>
                <a:latin typeface="Montserrat"/>
              </a:rPr>
              <a:t>V · GEOGRAPHY</a:t>
            </a:r>
          </a:p>
        </p:txBody>
      </p:sp>
      <p:sp>
        <p:nvSpPr>
          <p:cNvPr id="3" name="TextBox 2"/>
          <p:cNvSpPr txBox="1"/>
          <p:nvPr/>
        </p:nvSpPr>
        <p:spPr>
          <a:xfrm>
            <a:off x="566928" y="749808"/>
            <a:ext cx="10874959" cy="777240"/>
          </a:xfrm>
          <a:prstGeom prst="rect">
            <a:avLst/>
          </a:prstGeom>
          <a:noFill/>
        </p:spPr>
        <p:txBody>
          <a:bodyPr wrap="square" anchor="t" lIns="0" rIns="0" tIns="0" bIns="0">
            <a:spAutoFit/>
          </a:bodyPr>
          <a:lstStyle/>
          <a:p>
            <a:pPr algn="l">
              <a:lnSpc>
                <a:spcPct val="112000"/>
              </a:lnSpc>
              <a:spcAft>
                <a:spcPts val="0"/>
              </a:spcAft>
            </a:pPr>
            <a:r>
              <a:rPr sz="2100" b="1" i="0">
                <a:solidFill>
                  <a:srgbClr val="123B33"/>
                </a:solidFill>
                <a:latin typeface="Montserrat"/>
              </a:rPr>
              <a:t>Per person, the small and the least developed do best; the largest economies receive almost nothing</a:t>
            </a:r>
          </a:p>
        </p:txBody>
      </p:sp>
      <p:sp>
        <p:nvSpPr>
          <p:cNvPr id="4" name="Rectangle 3"/>
          <p:cNvSpPr/>
          <p:nvPr/>
        </p:nvSpPr>
        <p:spPr>
          <a:xfrm>
            <a:off x="566928" y="1627632"/>
            <a:ext cx="822960" cy="32004"/>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31_map_per_capita.png"/>
          <p:cNvPicPr>
            <a:picLocks noChangeAspect="1"/>
          </p:cNvPicPr>
          <p:nvPr/>
        </p:nvPicPr>
        <p:blipFill>
          <a:blip r:embed="rId2"/>
          <a:stretch>
            <a:fillRect/>
          </a:stretch>
        </p:blipFill>
        <p:spPr>
          <a:xfrm>
            <a:off x="582381" y="1737360"/>
            <a:ext cx="6369892" cy="4206240"/>
          </a:xfrm>
          <a:prstGeom prst="rect">
            <a:avLst/>
          </a:prstGeom>
        </p:spPr>
      </p:pic>
      <p:sp>
        <p:nvSpPr>
          <p:cNvPr id="6" name="TextBox 5"/>
          <p:cNvSpPr txBox="1"/>
          <p:nvPr/>
        </p:nvSpPr>
        <p:spPr>
          <a:xfrm>
            <a:off x="7333488" y="1783080"/>
            <a:ext cx="4291279" cy="274320"/>
          </a:xfrm>
          <a:prstGeom prst="rect">
            <a:avLst/>
          </a:prstGeom>
          <a:noFill/>
        </p:spPr>
        <p:txBody>
          <a:bodyPr wrap="square" anchor="t" lIns="0" rIns="0" tIns="0" bIns="0">
            <a:spAutoFit/>
          </a:bodyPr>
          <a:lstStyle/>
          <a:p>
            <a:pPr algn="l">
              <a:lnSpc>
                <a:spcPct val="125000"/>
              </a:lnSpc>
              <a:spcAft>
                <a:spcPts val="0"/>
              </a:spcAft>
            </a:pPr>
            <a:r>
              <a:rPr sz="850" b="1" i="0">
                <a:solidFill>
                  <a:srgbClr val="6B6660"/>
                </a:solidFill>
                <a:latin typeface="Montserrat"/>
              </a:rPr>
              <a:t>WHAT IT SHOWS</a:t>
            </a:r>
          </a:p>
        </p:txBody>
      </p:sp>
      <p:sp>
        <p:nvSpPr>
          <p:cNvPr id="7" name="TextBox 6"/>
          <p:cNvSpPr txBox="1"/>
          <p:nvPr/>
        </p:nvSpPr>
        <p:spPr>
          <a:xfrm>
            <a:off x="7333488" y="2148840"/>
            <a:ext cx="4291279" cy="3566160"/>
          </a:xfrm>
          <a:prstGeom prst="rect">
            <a:avLst/>
          </a:prstGeom>
          <a:noFill/>
        </p:spPr>
        <p:txBody>
          <a:bodyPr wrap="square" lIns="0" rIns="0" tIns="0" bIns="0">
            <a:spAutoFit/>
          </a:bodyPr>
          <a:lstStyle/>
          <a:p>
            <a:pPr>
              <a:lnSpc>
                <a:spcPct val="130000"/>
              </a:lnSpc>
              <a:spcAft>
                <a:spcPts val="900"/>
              </a:spcAft>
            </a:pPr>
            <a:r>
              <a:rPr sz="1150" b="1">
                <a:solidFill>
                  <a:srgbClr val="98C11F"/>
                </a:solidFill>
                <a:latin typeface="Montserrat"/>
              </a:rPr>
              <a:t>—  </a:t>
            </a:r>
            <a:r>
              <a:rPr sz="1150">
                <a:solidFill>
                  <a:srgbClr val="2B2B2B"/>
                </a:solidFill>
                <a:latin typeface="Montserrat"/>
              </a:rPr>
              <a:t>Cumulative multilateral climate-fund finance per person spans more than two orders of magnitude.</a:t>
            </a:r>
          </a:p>
          <a:p>
            <a:pPr>
              <a:lnSpc>
                <a:spcPct val="130000"/>
              </a:lnSpc>
              <a:spcAft>
                <a:spcPts val="900"/>
              </a:spcAft>
            </a:pPr>
            <a:r>
              <a:rPr sz="1150" b="1">
                <a:solidFill>
                  <a:srgbClr val="98C11F"/>
                </a:solidFill>
                <a:latin typeface="Montserrat"/>
              </a:rPr>
              <a:t>—  </a:t>
            </a:r>
            <a:r>
              <a:rPr sz="1150">
                <a:solidFill>
                  <a:srgbClr val="2B2B2B"/>
                </a:solidFill>
                <a:latin typeface="Montserrat"/>
              </a:rPr>
              <a:t>Small island and least-developed states top the ranking on a per-person basis.</a:t>
            </a:r>
          </a:p>
          <a:p>
            <a:pPr>
              <a:lnSpc>
                <a:spcPct val="130000"/>
              </a:lnSpc>
              <a:spcAft>
                <a:spcPts val="900"/>
              </a:spcAft>
            </a:pPr>
            <a:r>
              <a:rPr sz="1150" b="1">
                <a:solidFill>
                  <a:srgbClr val="98C11F"/>
                </a:solidFill>
                <a:latin typeface="Montserrat"/>
              </a:rPr>
              <a:t>—  </a:t>
            </a:r>
            <a:r>
              <a:rPr sz="1150">
                <a:solidFill>
                  <a:srgbClr val="2B2B2B"/>
                </a:solidFill>
                <a:latin typeface="Montserrat"/>
              </a:rPr>
              <a:t>Nigeria, Egypt, DR Congo and South Africa sit near the bottom despite the largest exposed populations.</a:t>
            </a:r>
          </a:p>
          <a:p>
            <a:pPr>
              <a:lnSpc>
                <a:spcPct val="130000"/>
              </a:lnSpc>
              <a:spcAft>
                <a:spcPts val="900"/>
              </a:spcAft>
            </a:pPr>
            <a:r>
              <a:rPr sz="1150" b="1">
                <a:solidFill>
                  <a:srgbClr val="98C11F"/>
                </a:solidFill>
                <a:latin typeface="Montserrat"/>
              </a:rPr>
              <a:t>—  </a:t>
            </a:r>
            <a:r>
              <a:rPr sz="1150">
                <a:solidFill>
                  <a:srgbClr val="2B2B2B"/>
                </a:solidFill>
                <a:latin typeface="Montserrat"/>
              </a:rPr>
              <a:t>Allocation tracks country count and access capacity more than it tracks people.</a:t>
            </a:r>
          </a:p>
        </p:txBody>
      </p:sp>
      <p:sp>
        <p:nvSpPr>
          <p:cNvPr id="8" name="TextBox 7"/>
          <p:cNvSpPr txBox="1"/>
          <p:nvPr/>
        </p:nvSpPr>
        <p:spPr>
          <a:xfrm>
            <a:off x="566928" y="6053328"/>
            <a:ext cx="11057839" cy="457200"/>
          </a:xfrm>
          <a:prstGeom prst="rect">
            <a:avLst/>
          </a:prstGeom>
          <a:noFill/>
        </p:spPr>
        <p:txBody>
          <a:bodyPr wrap="square" anchor="t" lIns="0" rIns="0" tIns="0" bIns="0">
            <a:spAutoFit/>
          </a:bodyPr>
          <a:lstStyle/>
          <a:p>
            <a:pPr algn="l">
              <a:lnSpc>
                <a:spcPct val="120000"/>
              </a:lnSpc>
              <a:spcAft>
                <a:spcPts val="0"/>
              </a:spcAft>
            </a:pPr>
            <a:r>
              <a:rPr sz="800" b="0" i="0">
                <a:solidFill>
                  <a:srgbClr val="6B6660"/>
                </a:solidFill>
                <a:latin typeface="Montserrat"/>
              </a:rPr>
              <a:t>Source: CFU/ODI climate funds database; GCF, Adaptation Fund, LDCF and PPCR portfolios; UN WPP 2023</a:t>
            </a:r>
          </a:p>
        </p:txBody>
      </p:sp>
      <p:sp>
        <p:nvSpPr>
          <p:cNvPr id="9" name="Rectangle 8"/>
          <p:cNvSpPr/>
          <p:nvPr/>
        </p:nvSpPr>
        <p:spPr>
          <a:xfrm>
            <a:off x="0" y="6583680"/>
            <a:ext cx="12191695" cy="32004"/>
          </a:xfrm>
          <a:prstGeom prst="rect">
            <a:avLst/>
          </a:prstGeom>
          <a:solidFill>
            <a:srgbClr val="E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638544"/>
            <a:ext cx="6400800" cy="201168"/>
          </a:xfrm>
          <a:prstGeom prst="rect">
            <a:avLst/>
          </a:prstGeom>
          <a:noFill/>
        </p:spPr>
        <p:txBody>
          <a:bodyPr wrap="square" anchor="t" lIns="0" rIns="0" tIns="0" bIns="0">
            <a:spAutoFit/>
          </a:bodyPr>
          <a:lstStyle/>
          <a:p>
            <a:pPr algn="l">
              <a:lnSpc>
                <a:spcPct val="125000"/>
              </a:lnSpc>
              <a:spcAft>
                <a:spcPts val="0"/>
              </a:spcAft>
            </a:pPr>
            <a:r>
              <a:rPr sz="800" b="1" i="0">
                <a:solidFill>
                  <a:srgbClr val="6B6660"/>
                </a:solidFill>
                <a:latin typeface="Montserrat"/>
              </a:rPr>
              <a:t>V · GEOGRAPHY</a:t>
            </a:r>
          </a:p>
        </p:txBody>
      </p:sp>
      <p:sp>
        <p:nvSpPr>
          <p:cNvPr id="11" name="TextBox 10"/>
          <p:cNvSpPr txBox="1"/>
          <p:nvPr/>
        </p:nvSpPr>
        <p:spPr>
          <a:xfrm>
            <a:off x="10527487" y="6638544"/>
            <a:ext cx="1097280" cy="201168"/>
          </a:xfrm>
          <a:prstGeom prst="rect">
            <a:avLst/>
          </a:prstGeom>
          <a:noFill/>
        </p:spPr>
        <p:txBody>
          <a:bodyPr wrap="square" anchor="t" lIns="0" rIns="0" tIns="0" bIns="0">
            <a:spAutoFit/>
          </a:bodyPr>
          <a:lstStyle/>
          <a:p>
            <a:pPr algn="r">
              <a:lnSpc>
                <a:spcPct val="125000"/>
              </a:lnSpc>
              <a:spcAft>
                <a:spcPts val="0"/>
              </a:spcAft>
            </a:pPr>
            <a:r>
              <a:rPr sz="800" b="1" i="0">
                <a:solidFill>
                  <a:srgbClr val="6B6660"/>
                </a:solidFill>
                <a:latin typeface="Montserra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7498079" cy="320040"/>
          </a:xfrm>
          <a:prstGeom prst="rect">
            <a:avLst/>
          </a:prstGeom>
          <a:noFill/>
        </p:spPr>
        <p:txBody>
          <a:bodyPr wrap="square" anchor="t" lIns="0" rIns="0" tIns="0" bIns="0">
            <a:spAutoFit/>
          </a:bodyPr>
          <a:lstStyle/>
          <a:p>
            <a:pPr algn="l">
              <a:lnSpc>
                <a:spcPct val="125000"/>
              </a:lnSpc>
              <a:spcAft>
                <a:spcPts val="0"/>
              </a:spcAft>
            </a:pPr>
            <a:r>
              <a:rPr sz="900" b="1" i="0">
                <a:solidFill>
                  <a:srgbClr val="387167"/>
                </a:solidFill>
                <a:latin typeface="Montserrat"/>
              </a:rPr>
              <a:t>V · GEOGRAPHY</a:t>
            </a:r>
          </a:p>
        </p:txBody>
      </p:sp>
      <p:sp>
        <p:nvSpPr>
          <p:cNvPr id="3" name="TextBox 2"/>
          <p:cNvSpPr txBox="1"/>
          <p:nvPr/>
        </p:nvSpPr>
        <p:spPr>
          <a:xfrm>
            <a:off x="566928" y="749808"/>
            <a:ext cx="10874959" cy="777240"/>
          </a:xfrm>
          <a:prstGeom prst="rect">
            <a:avLst/>
          </a:prstGeom>
          <a:noFill/>
        </p:spPr>
        <p:txBody>
          <a:bodyPr wrap="square" anchor="t" lIns="0" rIns="0" tIns="0" bIns="0">
            <a:spAutoFit/>
          </a:bodyPr>
          <a:lstStyle/>
          <a:p>
            <a:pPr algn="l">
              <a:lnSpc>
                <a:spcPct val="112000"/>
              </a:lnSpc>
              <a:spcAft>
                <a:spcPts val="0"/>
              </a:spcAft>
            </a:pPr>
            <a:r>
              <a:rPr sz="2100" b="1" i="0">
                <a:solidFill>
                  <a:srgbClr val="123B33"/>
                </a:solidFill>
                <a:latin typeface="Montserrat"/>
              </a:rPr>
              <a:t>Vulnerability barely predicts what a country receives</a:t>
            </a:r>
          </a:p>
        </p:txBody>
      </p:sp>
      <p:sp>
        <p:nvSpPr>
          <p:cNvPr id="4" name="Rectangle 3"/>
          <p:cNvSpPr/>
          <p:nvPr/>
        </p:nvSpPr>
        <p:spPr>
          <a:xfrm>
            <a:off x="566928" y="1627632"/>
            <a:ext cx="822960" cy="32004"/>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35_vulnerability_scatter.png"/>
          <p:cNvPicPr>
            <a:picLocks noChangeAspect="1"/>
          </p:cNvPicPr>
          <p:nvPr/>
        </p:nvPicPr>
        <p:blipFill>
          <a:blip r:embed="rId2"/>
          <a:stretch>
            <a:fillRect/>
          </a:stretch>
        </p:blipFill>
        <p:spPr>
          <a:xfrm>
            <a:off x="566928" y="2303350"/>
            <a:ext cx="6400799" cy="3074258"/>
          </a:xfrm>
          <a:prstGeom prst="rect">
            <a:avLst/>
          </a:prstGeom>
        </p:spPr>
      </p:pic>
      <p:sp>
        <p:nvSpPr>
          <p:cNvPr id="6" name="TextBox 5"/>
          <p:cNvSpPr txBox="1"/>
          <p:nvPr/>
        </p:nvSpPr>
        <p:spPr>
          <a:xfrm>
            <a:off x="7333488" y="1783080"/>
            <a:ext cx="4291279" cy="274320"/>
          </a:xfrm>
          <a:prstGeom prst="rect">
            <a:avLst/>
          </a:prstGeom>
          <a:noFill/>
        </p:spPr>
        <p:txBody>
          <a:bodyPr wrap="square" anchor="t" lIns="0" rIns="0" tIns="0" bIns="0">
            <a:spAutoFit/>
          </a:bodyPr>
          <a:lstStyle/>
          <a:p>
            <a:pPr algn="l">
              <a:lnSpc>
                <a:spcPct val="125000"/>
              </a:lnSpc>
              <a:spcAft>
                <a:spcPts val="0"/>
              </a:spcAft>
            </a:pPr>
            <a:r>
              <a:rPr sz="850" b="1" i="0">
                <a:solidFill>
                  <a:srgbClr val="6B6660"/>
                </a:solidFill>
                <a:latin typeface="Montserrat"/>
              </a:rPr>
              <a:t>WHAT IT SHOWS</a:t>
            </a:r>
          </a:p>
        </p:txBody>
      </p:sp>
      <p:sp>
        <p:nvSpPr>
          <p:cNvPr id="7" name="TextBox 6"/>
          <p:cNvSpPr txBox="1"/>
          <p:nvPr/>
        </p:nvSpPr>
        <p:spPr>
          <a:xfrm>
            <a:off x="7333488" y="2148840"/>
            <a:ext cx="4291279" cy="3566160"/>
          </a:xfrm>
          <a:prstGeom prst="rect">
            <a:avLst/>
          </a:prstGeom>
          <a:noFill/>
        </p:spPr>
        <p:txBody>
          <a:bodyPr wrap="square" lIns="0" rIns="0" tIns="0" bIns="0">
            <a:spAutoFit/>
          </a:bodyPr>
          <a:lstStyle/>
          <a:p>
            <a:pPr>
              <a:lnSpc>
                <a:spcPct val="130000"/>
              </a:lnSpc>
              <a:spcAft>
                <a:spcPts val="900"/>
              </a:spcAft>
            </a:pPr>
            <a:r>
              <a:rPr sz="1150" b="1">
                <a:solidFill>
                  <a:srgbClr val="98C11F"/>
                </a:solidFill>
                <a:latin typeface="Montserrat"/>
              </a:rPr>
              <a:t>—  </a:t>
            </a:r>
            <a:r>
              <a:rPr sz="1150">
                <a:solidFill>
                  <a:srgbClr val="2B2B2B"/>
                </a:solidFill>
                <a:latin typeface="Montserrat"/>
              </a:rPr>
              <a:t>ND-GAIN vulnerability against finance per person is close to flat - the fitted line is nearly horizontal.</a:t>
            </a:r>
          </a:p>
          <a:p>
            <a:pPr>
              <a:lnSpc>
                <a:spcPct val="130000"/>
              </a:lnSpc>
              <a:spcAft>
                <a:spcPts val="900"/>
              </a:spcAft>
            </a:pPr>
            <a:r>
              <a:rPr sz="1150" b="1">
                <a:solidFill>
                  <a:srgbClr val="98C11F"/>
                </a:solidFill>
                <a:latin typeface="Montserrat"/>
              </a:rPr>
              <a:t>—  </a:t>
            </a:r>
            <a:r>
              <a:rPr sz="1150">
                <a:solidFill>
                  <a:srgbClr val="2B2B2B"/>
                </a:solidFill>
                <a:latin typeface="Montserrat"/>
              </a:rPr>
              <a:t>The largest populations cluster at the bottom of the chart.</a:t>
            </a:r>
          </a:p>
          <a:p>
            <a:pPr>
              <a:lnSpc>
                <a:spcPct val="130000"/>
              </a:lnSpc>
              <a:spcAft>
                <a:spcPts val="900"/>
              </a:spcAft>
            </a:pPr>
            <a:r>
              <a:rPr sz="1150" b="1">
                <a:solidFill>
                  <a:srgbClr val="98C11F"/>
                </a:solidFill>
                <a:latin typeface="Montserrat"/>
              </a:rPr>
              <a:t>—  </a:t>
            </a:r>
            <a:r>
              <a:rPr sz="1150">
                <a:solidFill>
                  <a:srgbClr val="2B2B2B"/>
                </a:solidFill>
                <a:latin typeface="Montserrat"/>
              </a:rPr>
              <a:t>Countries at similar vulnerability receive amounts that differ by a factor of ten or more.</a:t>
            </a:r>
          </a:p>
          <a:p>
            <a:pPr>
              <a:lnSpc>
                <a:spcPct val="130000"/>
              </a:lnSpc>
              <a:spcAft>
                <a:spcPts val="900"/>
              </a:spcAft>
            </a:pPr>
            <a:r>
              <a:rPr sz="1150" b="1">
                <a:solidFill>
                  <a:srgbClr val="98C11F"/>
                </a:solidFill>
                <a:latin typeface="Montserrat"/>
              </a:rPr>
              <a:t>—  </a:t>
            </a:r>
            <a:r>
              <a:rPr sz="1150">
                <a:solidFill>
                  <a:srgbClr val="2B2B2B"/>
                </a:solidFill>
                <a:latin typeface="Montserrat"/>
              </a:rPr>
              <a:t>Need, as measured, is not the allocation rule.</a:t>
            </a:r>
          </a:p>
        </p:txBody>
      </p:sp>
      <p:sp>
        <p:nvSpPr>
          <p:cNvPr id="8" name="TextBox 7"/>
          <p:cNvSpPr txBox="1"/>
          <p:nvPr/>
        </p:nvSpPr>
        <p:spPr>
          <a:xfrm>
            <a:off x="566928" y="6053328"/>
            <a:ext cx="11057839" cy="457200"/>
          </a:xfrm>
          <a:prstGeom prst="rect">
            <a:avLst/>
          </a:prstGeom>
          <a:noFill/>
        </p:spPr>
        <p:txBody>
          <a:bodyPr wrap="square" anchor="t" lIns="0" rIns="0" tIns="0" bIns="0">
            <a:spAutoFit/>
          </a:bodyPr>
          <a:lstStyle/>
          <a:p>
            <a:pPr algn="l">
              <a:lnSpc>
                <a:spcPct val="120000"/>
              </a:lnSpc>
              <a:spcAft>
                <a:spcPts val="0"/>
              </a:spcAft>
            </a:pPr>
            <a:r>
              <a:rPr sz="800" b="0" i="0">
                <a:solidFill>
                  <a:srgbClr val="6B6660"/>
                </a:solidFill>
                <a:latin typeface="Montserrat"/>
              </a:rPr>
              <a:t>Source: ND-GAIN 2025; CFU/ODI, GCF, Adaptation Fund, LDCF and PPCR portfolio data; UN WPP 2023</a:t>
            </a:r>
          </a:p>
        </p:txBody>
      </p:sp>
      <p:sp>
        <p:nvSpPr>
          <p:cNvPr id="9" name="Rectangle 8"/>
          <p:cNvSpPr/>
          <p:nvPr/>
        </p:nvSpPr>
        <p:spPr>
          <a:xfrm>
            <a:off x="0" y="6583680"/>
            <a:ext cx="12191695" cy="32004"/>
          </a:xfrm>
          <a:prstGeom prst="rect">
            <a:avLst/>
          </a:prstGeom>
          <a:solidFill>
            <a:srgbClr val="E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638544"/>
            <a:ext cx="6400800" cy="201168"/>
          </a:xfrm>
          <a:prstGeom prst="rect">
            <a:avLst/>
          </a:prstGeom>
          <a:noFill/>
        </p:spPr>
        <p:txBody>
          <a:bodyPr wrap="square" anchor="t" lIns="0" rIns="0" tIns="0" bIns="0">
            <a:spAutoFit/>
          </a:bodyPr>
          <a:lstStyle/>
          <a:p>
            <a:pPr algn="l">
              <a:lnSpc>
                <a:spcPct val="125000"/>
              </a:lnSpc>
              <a:spcAft>
                <a:spcPts val="0"/>
              </a:spcAft>
            </a:pPr>
            <a:r>
              <a:rPr sz="800" b="1" i="0">
                <a:solidFill>
                  <a:srgbClr val="6B6660"/>
                </a:solidFill>
                <a:latin typeface="Montserrat"/>
              </a:rPr>
              <a:t>V · GEOGRAPHY</a:t>
            </a:r>
          </a:p>
        </p:txBody>
      </p:sp>
      <p:sp>
        <p:nvSpPr>
          <p:cNvPr id="11" name="TextBox 10"/>
          <p:cNvSpPr txBox="1"/>
          <p:nvPr/>
        </p:nvSpPr>
        <p:spPr>
          <a:xfrm>
            <a:off x="10527487" y="6638544"/>
            <a:ext cx="1097280" cy="201168"/>
          </a:xfrm>
          <a:prstGeom prst="rect">
            <a:avLst/>
          </a:prstGeom>
          <a:noFill/>
        </p:spPr>
        <p:txBody>
          <a:bodyPr wrap="square" anchor="t" lIns="0" rIns="0" tIns="0" bIns="0">
            <a:spAutoFit/>
          </a:bodyPr>
          <a:lstStyle/>
          <a:p>
            <a:pPr algn="r">
              <a:lnSpc>
                <a:spcPct val="125000"/>
              </a:lnSpc>
              <a:spcAft>
                <a:spcPts val="0"/>
              </a:spcAft>
            </a:pPr>
            <a:r>
              <a:rPr sz="800" b="1" i="0">
                <a:solidFill>
                  <a:srgbClr val="6B6660"/>
                </a:solidFill>
                <a:latin typeface="Montserra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777240"/>
            <a:ext cx="9601200" cy="548640"/>
          </a:xfrm>
          <a:prstGeom prst="rect">
            <a:avLst/>
          </a:prstGeom>
          <a:noFill/>
        </p:spPr>
        <p:txBody>
          <a:bodyPr wrap="square" anchor="t" lIns="0" rIns="0" tIns="0" bIns="0">
            <a:spAutoFit/>
          </a:bodyPr>
          <a:lstStyle/>
          <a:p>
            <a:pPr algn="l">
              <a:lnSpc>
                <a:spcPct val="125000"/>
              </a:lnSpc>
              <a:spcAft>
                <a:spcPts val="0"/>
              </a:spcAft>
            </a:pPr>
            <a:r>
              <a:rPr sz="3000" b="1" i="0">
                <a:solidFill>
                  <a:srgbClr val="FFFFFF"/>
                </a:solidFill>
                <a:latin typeface="Montserrat"/>
              </a:rPr>
              <a:t>What the 35 figures add up to</a:t>
            </a:r>
          </a:p>
        </p:txBody>
      </p:sp>
      <p:sp>
        <p:nvSpPr>
          <p:cNvPr id="5" name="Rectangle 4"/>
          <p:cNvSpPr/>
          <p:nvPr/>
        </p:nvSpPr>
        <p:spPr>
          <a:xfrm>
            <a:off x="1024128" y="1572768"/>
            <a:ext cx="1188720" cy="36576"/>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 y="2048255"/>
            <a:ext cx="68580" cy="6858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965960"/>
            <a:ext cx="9692640" cy="292608"/>
          </a:xfrm>
          <a:prstGeom prst="rect">
            <a:avLst/>
          </a:prstGeom>
          <a:noFill/>
        </p:spPr>
        <p:txBody>
          <a:bodyPr wrap="square" anchor="t" lIns="0" rIns="0" tIns="0" bIns="0">
            <a:spAutoFit/>
          </a:bodyPr>
          <a:lstStyle/>
          <a:p>
            <a:pPr algn="l">
              <a:lnSpc>
                <a:spcPct val="125000"/>
              </a:lnSpc>
              <a:spcAft>
                <a:spcPts val="0"/>
              </a:spcAft>
            </a:pPr>
            <a:r>
              <a:rPr sz="1350" b="1" i="0">
                <a:solidFill>
                  <a:srgbClr val="FFFFFF"/>
                </a:solidFill>
                <a:latin typeface="Montserrat"/>
              </a:rPr>
              <a:t>The flow has turned down, not up.</a:t>
            </a:r>
          </a:p>
        </p:txBody>
      </p:sp>
      <p:sp>
        <p:nvSpPr>
          <p:cNvPr id="8" name="TextBox 7"/>
          <p:cNvSpPr txBox="1"/>
          <p:nvPr/>
        </p:nvSpPr>
        <p:spPr>
          <a:xfrm>
            <a:off x="1280160" y="2249424"/>
            <a:ext cx="9692640" cy="548640"/>
          </a:xfrm>
          <a:prstGeom prst="rect">
            <a:avLst/>
          </a:prstGeom>
          <a:noFill/>
        </p:spPr>
        <p:txBody>
          <a:bodyPr wrap="square" anchor="t" lIns="0" rIns="0" tIns="0" bIns="0">
            <a:spAutoFit/>
          </a:bodyPr>
          <a:lstStyle/>
          <a:p>
            <a:pPr algn="l">
              <a:lnSpc>
                <a:spcPct val="132000"/>
              </a:lnSpc>
              <a:spcAft>
                <a:spcPts val="0"/>
              </a:spcAft>
            </a:pPr>
            <a:r>
              <a:rPr sz="1100" b="0" i="0">
                <a:solidFill>
                  <a:srgbClr val="B8C8C4"/>
                </a:solidFill>
                <a:latin typeface="Montserrat"/>
              </a:rPr>
              <a:t>Commitments peaked at USD 16.4bn in 2022 and fell to USD 14.8bn in 2023; sub-Saharan Africa fell a further 15% in 2024, against a costed need of USD 70bn a year.</a:t>
            </a:r>
          </a:p>
        </p:txBody>
      </p:sp>
      <p:sp>
        <p:nvSpPr>
          <p:cNvPr id="9" name="Rectangle 8"/>
          <p:cNvSpPr/>
          <p:nvPr/>
        </p:nvSpPr>
        <p:spPr>
          <a:xfrm>
            <a:off x="1024128" y="2944368"/>
            <a:ext cx="68580" cy="6858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2862072"/>
            <a:ext cx="9692640" cy="292608"/>
          </a:xfrm>
          <a:prstGeom prst="rect">
            <a:avLst/>
          </a:prstGeom>
          <a:noFill/>
        </p:spPr>
        <p:txBody>
          <a:bodyPr wrap="square" anchor="t" lIns="0" rIns="0" tIns="0" bIns="0">
            <a:spAutoFit/>
          </a:bodyPr>
          <a:lstStyle/>
          <a:p>
            <a:pPr algn="l">
              <a:lnSpc>
                <a:spcPct val="125000"/>
              </a:lnSpc>
              <a:spcAft>
                <a:spcPts val="0"/>
              </a:spcAft>
            </a:pPr>
            <a:r>
              <a:rPr sz="1350" b="1" i="0">
                <a:solidFill>
                  <a:srgbClr val="FFFFFF"/>
                </a:solidFill>
                <a:latin typeface="Montserrat"/>
              </a:rPr>
              <a:t>The terms are the problem as much as the volume.</a:t>
            </a:r>
          </a:p>
        </p:txBody>
      </p:sp>
      <p:sp>
        <p:nvSpPr>
          <p:cNvPr id="11" name="TextBox 10"/>
          <p:cNvSpPr txBox="1"/>
          <p:nvPr/>
        </p:nvSpPr>
        <p:spPr>
          <a:xfrm>
            <a:off x="1280160" y="3145536"/>
            <a:ext cx="9692640" cy="548640"/>
          </a:xfrm>
          <a:prstGeom prst="rect">
            <a:avLst/>
          </a:prstGeom>
          <a:noFill/>
        </p:spPr>
        <p:txBody>
          <a:bodyPr wrap="square" anchor="t" lIns="0" rIns="0" tIns="0" bIns="0">
            <a:spAutoFit/>
          </a:bodyPr>
          <a:lstStyle/>
          <a:p>
            <a:pPr algn="l">
              <a:lnSpc>
                <a:spcPct val="132000"/>
              </a:lnSpc>
              <a:spcAft>
                <a:spcPts val="0"/>
              </a:spcAft>
            </a:pPr>
            <a:r>
              <a:rPr sz="1100" b="0" i="0">
                <a:solidFill>
                  <a:srgbClr val="B8C8C4"/>
                </a:solidFill>
                <a:latin typeface="Montserrat"/>
              </a:rPr>
              <a:t>Market-rate debt went from nothing in 2018 to a quarter of the mix, and debt is 51% of climate finance to Africa - the highest share of any region.</a:t>
            </a:r>
          </a:p>
        </p:txBody>
      </p:sp>
      <p:sp>
        <p:nvSpPr>
          <p:cNvPr id="12" name="Rectangle 11"/>
          <p:cNvSpPr/>
          <p:nvPr/>
        </p:nvSpPr>
        <p:spPr>
          <a:xfrm>
            <a:off x="1024128" y="3840479"/>
            <a:ext cx="68580" cy="6858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3758183"/>
            <a:ext cx="9692640" cy="292608"/>
          </a:xfrm>
          <a:prstGeom prst="rect">
            <a:avLst/>
          </a:prstGeom>
          <a:noFill/>
        </p:spPr>
        <p:txBody>
          <a:bodyPr wrap="square" anchor="t" lIns="0" rIns="0" tIns="0" bIns="0">
            <a:spAutoFit/>
          </a:bodyPr>
          <a:lstStyle/>
          <a:p>
            <a:pPr algn="l">
              <a:lnSpc>
                <a:spcPct val="125000"/>
              </a:lnSpc>
              <a:spcAft>
                <a:spcPts val="0"/>
              </a:spcAft>
            </a:pPr>
            <a:r>
              <a:rPr sz="1350" b="1" i="0">
                <a:solidFill>
                  <a:srgbClr val="FFFFFF"/>
                </a:solidFill>
                <a:latin typeface="Montserrat"/>
              </a:rPr>
              <a:t>The pipeline is not the constraint; conversion is.</a:t>
            </a:r>
          </a:p>
        </p:txBody>
      </p:sp>
      <p:sp>
        <p:nvSpPr>
          <p:cNvPr id="14" name="TextBox 13"/>
          <p:cNvSpPr txBox="1"/>
          <p:nvPr/>
        </p:nvSpPr>
        <p:spPr>
          <a:xfrm>
            <a:off x="1280160" y="4041647"/>
            <a:ext cx="9692640" cy="548640"/>
          </a:xfrm>
          <a:prstGeom prst="rect">
            <a:avLst/>
          </a:prstGeom>
          <a:noFill/>
        </p:spPr>
        <p:txBody>
          <a:bodyPr wrap="square" anchor="t" lIns="0" rIns="0" tIns="0" bIns="0">
            <a:spAutoFit/>
          </a:bodyPr>
          <a:lstStyle/>
          <a:p>
            <a:pPr algn="l">
              <a:lnSpc>
                <a:spcPct val="132000"/>
              </a:lnSpc>
              <a:spcAft>
                <a:spcPts val="0"/>
              </a:spcAft>
            </a:pPr>
            <a:r>
              <a:rPr sz="1100" b="0" i="0">
                <a:solidFill>
                  <a:srgbClr val="B8C8C4"/>
                </a:solidFill>
                <a:latin typeface="Montserrat"/>
              </a:rPr>
              <a:t>The GCF has 314 approvals and 231 proposals behind them, but a third of approvals has disbursed, on a 10 to 27 month cycle.</a:t>
            </a:r>
          </a:p>
        </p:txBody>
      </p:sp>
      <p:sp>
        <p:nvSpPr>
          <p:cNvPr id="15" name="Rectangle 14"/>
          <p:cNvSpPr/>
          <p:nvPr/>
        </p:nvSpPr>
        <p:spPr>
          <a:xfrm>
            <a:off x="1024128" y="4736592"/>
            <a:ext cx="68580" cy="6858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4654296"/>
            <a:ext cx="9692640" cy="292608"/>
          </a:xfrm>
          <a:prstGeom prst="rect">
            <a:avLst/>
          </a:prstGeom>
          <a:noFill/>
        </p:spPr>
        <p:txBody>
          <a:bodyPr wrap="square" anchor="t" lIns="0" rIns="0" tIns="0" bIns="0">
            <a:spAutoFit/>
          </a:bodyPr>
          <a:lstStyle/>
          <a:p>
            <a:pPr algn="l">
              <a:lnSpc>
                <a:spcPct val="125000"/>
              </a:lnSpc>
              <a:spcAft>
                <a:spcPts val="0"/>
              </a:spcAft>
            </a:pPr>
            <a:r>
              <a:rPr sz="1350" b="1" i="0">
                <a:solidFill>
                  <a:srgbClr val="FFFFFF"/>
                </a:solidFill>
                <a:latin typeface="Montserrat"/>
              </a:rPr>
              <a:t>Preparation money is the cheapest leverage in the system.</a:t>
            </a:r>
          </a:p>
        </p:txBody>
      </p:sp>
      <p:sp>
        <p:nvSpPr>
          <p:cNvPr id="17" name="TextBox 16"/>
          <p:cNvSpPr txBox="1"/>
          <p:nvPr/>
        </p:nvSpPr>
        <p:spPr>
          <a:xfrm>
            <a:off x="1280160" y="4937759"/>
            <a:ext cx="9692640" cy="548640"/>
          </a:xfrm>
          <a:prstGeom prst="rect">
            <a:avLst/>
          </a:prstGeom>
          <a:noFill/>
        </p:spPr>
        <p:txBody>
          <a:bodyPr wrap="square" anchor="t" lIns="0" rIns="0" tIns="0" bIns="0">
            <a:spAutoFit/>
          </a:bodyPr>
          <a:lstStyle/>
          <a:p>
            <a:pPr algn="l">
              <a:lnSpc>
                <a:spcPct val="132000"/>
              </a:lnSpc>
              <a:spcAft>
                <a:spcPts val="0"/>
              </a:spcAft>
            </a:pPr>
            <a:r>
              <a:rPr sz="1100" b="0" i="0">
                <a:solidFill>
                  <a:srgbClr val="B8C8C4"/>
                </a:solidFill>
                <a:latin typeface="Montserrat"/>
              </a:rPr>
              <a:t>Facilities return 10x to 105x on preparation spend, and every one of them is small.</a:t>
            </a:r>
          </a:p>
        </p:txBody>
      </p:sp>
      <p:sp>
        <p:nvSpPr>
          <p:cNvPr id="18" name="Rectangle 17"/>
          <p:cNvSpPr/>
          <p:nvPr/>
        </p:nvSpPr>
        <p:spPr>
          <a:xfrm>
            <a:off x="1024128" y="5632704"/>
            <a:ext cx="68580" cy="68580"/>
          </a:xfrm>
          <a:prstGeom prst="rect">
            <a:avLst/>
          </a:prstGeom>
          <a:solidFill>
            <a:srgbClr val="98C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5550408"/>
            <a:ext cx="9692640" cy="292608"/>
          </a:xfrm>
          <a:prstGeom prst="rect">
            <a:avLst/>
          </a:prstGeom>
          <a:noFill/>
        </p:spPr>
        <p:txBody>
          <a:bodyPr wrap="square" anchor="t" lIns="0" rIns="0" tIns="0" bIns="0">
            <a:spAutoFit/>
          </a:bodyPr>
          <a:lstStyle/>
          <a:p>
            <a:pPr algn="l">
              <a:lnSpc>
                <a:spcPct val="125000"/>
              </a:lnSpc>
              <a:spcAft>
                <a:spcPts val="0"/>
              </a:spcAft>
            </a:pPr>
            <a:r>
              <a:rPr sz="1350" b="1" i="0">
                <a:solidFill>
                  <a:srgbClr val="FFFFFF"/>
                </a:solidFill>
                <a:latin typeface="Montserrat"/>
              </a:rPr>
              <a:t>The case is not the obstacle either.</a:t>
            </a:r>
          </a:p>
        </p:txBody>
      </p:sp>
      <p:sp>
        <p:nvSpPr>
          <p:cNvPr id="20" name="TextBox 19"/>
          <p:cNvSpPr txBox="1"/>
          <p:nvPr/>
        </p:nvSpPr>
        <p:spPr>
          <a:xfrm>
            <a:off x="1280160" y="5833872"/>
            <a:ext cx="9692640" cy="548640"/>
          </a:xfrm>
          <a:prstGeom prst="rect">
            <a:avLst/>
          </a:prstGeom>
          <a:noFill/>
        </p:spPr>
        <p:txBody>
          <a:bodyPr wrap="square" anchor="t" lIns="0" rIns="0" tIns="0" bIns="0">
            <a:spAutoFit/>
          </a:bodyPr>
          <a:lstStyle/>
          <a:p>
            <a:pPr algn="l">
              <a:lnSpc>
                <a:spcPct val="132000"/>
              </a:lnSpc>
              <a:spcAft>
                <a:spcPts val="0"/>
              </a:spcAft>
            </a:pPr>
            <a:r>
              <a:rPr sz="1100" b="0" i="0">
                <a:solidFill>
                  <a:srgbClr val="B8C8C4"/>
                </a:solidFill>
                <a:latin typeface="Montserrat"/>
              </a:rPr>
              <a:t>Every appraisal in the evidence base clears 1:1, up to 12:1 - but only 27 of 320 put a value on all three resilience dividends.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